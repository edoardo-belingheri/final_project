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0" r:id="rId3"/>
    <p:sldId id="273" r:id="rId4"/>
    <p:sldId id="265" r:id="rId5"/>
    <p:sldId id="258" r:id="rId6"/>
    <p:sldId id="262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AB3F01-FBBE-4AF0-BF70-9FCB28EF65D5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32B6DD-8084-4ADC-8B85-4E81E77B145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b="1" dirty="0"/>
            <a:t>Website Activity</a:t>
          </a:r>
          <a:endParaRPr lang="it-IT" dirty="0"/>
        </a:p>
        <a:p>
          <a:pPr>
            <a:lnSpc>
              <a:spcPct val="100000"/>
            </a:lnSpc>
            <a:defRPr cap="all"/>
          </a:pPr>
          <a:r>
            <a:rPr lang="it-IT" dirty="0"/>
            <a:t>Conversion Rate e Traffic Source</a:t>
          </a:r>
          <a:endParaRPr lang="en-US" dirty="0"/>
        </a:p>
      </dgm:t>
    </dgm:pt>
    <dgm:pt modelId="{77D7C83E-3730-40E6-AF62-34976EF877C5}" type="parTrans" cxnId="{00F2530F-32E2-42E3-A61A-0FDE19AE7860}">
      <dgm:prSet/>
      <dgm:spPr/>
      <dgm:t>
        <a:bodyPr/>
        <a:lstStyle/>
        <a:p>
          <a:endParaRPr lang="en-US"/>
        </a:p>
      </dgm:t>
    </dgm:pt>
    <dgm:pt modelId="{8C5BFB7E-916E-4EA5-96EB-B307C61A9AD2}" type="sibTrans" cxnId="{00F2530F-32E2-42E3-A61A-0FDE19AE7860}">
      <dgm:prSet/>
      <dgm:spPr/>
      <dgm:t>
        <a:bodyPr/>
        <a:lstStyle/>
        <a:p>
          <a:endParaRPr lang="en-US"/>
        </a:p>
      </dgm:t>
    </dgm:pt>
    <dgm:pt modelId="{8AB2787E-F57E-443D-8DB1-5E9EC9B03F8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b="1" dirty="0"/>
            <a:t>Utenti</a:t>
          </a:r>
          <a:endParaRPr lang="it-IT" dirty="0"/>
        </a:p>
        <a:p>
          <a:pPr>
            <a:lnSpc>
              <a:spcPct val="100000"/>
            </a:lnSpc>
            <a:defRPr cap="all"/>
          </a:pPr>
          <a:r>
            <a:rPr lang="it-IT" dirty="0"/>
            <a:t>provenienza, età, genere</a:t>
          </a:r>
          <a:endParaRPr lang="en-US" dirty="0"/>
        </a:p>
      </dgm:t>
    </dgm:pt>
    <dgm:pt modelId="{5DF51F4C-7369-4404-A673-94A36886E546}" type="parTrans" cxnId="{6F844052-3D62-4A18-BEDA-CF49202A7336}">
      <dgm:prSet/>
      <dgm:spPr/>
      <dgm:t>
        <a:bodyPr/>
        <a:lstStyle/>
        <a:p>
          <a:endParaRPr lang="en-US"/>
        </a:p>
      </dgm:t>
    </dgm:pt>
    <dgm:pt modelId="{22E95425-26BE-450F-A5B2-ACD1F56638F8}" type="sibTrans" cxnId="{6F844052-3D62-4A18-BEDA-CF49202A7336}">
      <dgm:prSet/>
      <dgm:spPr/>
      <dgm:t>
        <a:bodyPr/>
        <a:lstStyle/>
        <a:p>
          <a:endParaRPr lang="en-US"/>
        </a:p>
      </dgm:t>
    </dgm:pt>
    <dgm:pt modelId="{A0AD51CB-AD94-4AC5-8FBA-5FFE613E746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b="1" dirty="0"/>
            <a:t>Logistica</a:t>
          </a:r>
          <a:r>
            <a:rPr lang="it-IT" dirty="0"/>
            <a:t> </a:t>
          </a:r>
        </a:p>
        <a:p>
          <a:pPr>
            <a:lnSpc>
              <a:spcPct val="100000"/>
            </a:lnSpc>
            <a:defRPr cap="all"/>
          </a:pPr>
          <a:r>
            <a:rPr lang="it-IT" dirty="0"/>
            <a:t>prodotti in stock, tempistiche e categorie più presenti in ogni centro di distribuzione</a:t>
          </a:r>
          <a:endParaRPr lang="en-US" dirty="0"/>
        </a:p>
      </dgm:t>
    </dgm:pt>
    <dgm:pt modelId="{FE8F0218-E225-4AF0-AA64-80D8CF963087}" type="parTrans" cxnId="{C79D6340-26F1-45BF-A0CB-5C43E31F875B}">
      <dgm:prSet/>
      <dgm:spPr/>
      <dgm:t>
        <a:bodyPr/>
        <a:lstStyle/>
        <a:p>
          <a:endParaRPr lang="en-US"/>
        </a:p>
      </dgm:t>
    </dgm:pt>
    <dgm:pt modelId="{799C6EFB-E507-4BB9-920C-196E05A2374C}" type="sibTrans" cxnId="{C79D6340-26F1-45BF-A0CB-5C43E31F875B}">
      <dgm:prSet/>
      <dgm:spPr/>
      <dgm:t>
        <a:bodyPr/>
        <a:lstStyle/>
        <a:p>
          <a:endParaRPr lang="en-US"/>
        </a:p>
      </dgm:t>
    </dgm:pt>
    <dgm:pt modelId="{D01F2335-8839-41A3-B54F-6B56F5D6DC5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b="1" dirty="0"/>
            <a:t>Prodotti</a:t>
          </a:r>
          <a:endParaRPr lang="it-IT" dirty="0"/>
        </a:p>
        <a:p>
          <a:pPr>
            <a:lnSpc>
              <a:spcPct val="100000"/>
            </a:lnSpc>
            <a:defRPr cap="all"/>
          </a:pPr>
          <a:r>
            <a:rPr lang="it-IT" dirty="0"/>
            <a:t>categorie più vendute, più profittevoli, percentuale di resi</a:t>
          </a:r>
          <a:endParaRPr lang="en-US" dirty="0"/>
        </a:p>
      </dgm:t>
    </dgm:pt>
    <dgm:pt modelId="{5F2BD271-D860-4F73-B062-1C7745E1F794}" type="parTrans" cxnId="{98686C4F-30AD-43EA-A100-ED41F9F56716}">
      <dgm:prSet/>
      <dgm:spPr/>
      <dgm:t>
        <a:bodyPr/>
        <a:lstStyle/>
        <a:p>
          <a:endParaRPr lang="en-US"/>
        </a:p>
      </dgm:t>
    </dgm:pt>
    <dgm:pt modelId="{243A2B6D-6701-496D-8670-D040C462F7D7}" type="sibTrans" cxnId="{98686C4F-30AD-43EA-A100-ED41F9F56716}">
      <dgm:prSet/>
      <dgm:spPr/>
      <dgm:t>
        <a:bodyPr/>
        <a:lstStyle/>
        <a:p>
          <a:endParaRPr lang="en-US"/>
        </a:p>
      </dgm:t>
    </dgm:pt>
    <dgm:pt modelId="{2F18FF9A-8894-4207-B870-17B1D16B797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b="1" dirty="0"/>
            <a:t>Ordini</a:t>
          </a:r>
          <a:endParaRPr lang="it-IT" dirty="0"/>
        </a:p>
        <a:p>
          <a:pPr>
            <a:lnSpc>
              <a:spcPct val="100000"/>
            </a:lnSpc>
            <a:defRPr cap="all"/>
          </a:pPr>
          <a:r>
            <a:rPr lang="it-IT" dirty="0"/>
            <a:t>Analisi quantità e profitto per paese, considerazione dell’età degli utenti</a:t>
          </a:r>
          <a:endParaRPr lang="en-US" dirty="0"/>
        </a:p>
      </dgm:t>
    </dgm:pt>
    <dgm:pt modelId="{46BE7C12-DD9E-4061-B481-931B5A0EB482}" type="parTrans" cxnId="{FEF51DAA-A180-49D4-8E32-6D4CC4D28B80}">
      <dgm:prSet/>
      <dgm:spPr/>
      <dgm:t>
        <a:bodyPr/>
        <a:lstStyle/>
        <a:p>
          <a:endParaRPr lang="en-US"/>
        </a:p>
      </dgm:t>
    </dgm:pt>
    <dgm:pt modelId="{6FF121BF-C443-4F8B-88D7-1C26B62DAB82}" type="sibTrans" cxnId="{FEF51DAA-A180-49D4-8E32-6D4CC4D28B80}">
      <dgm:prSet/>
      <dgm:spPr/>
      <dgm:t>
        <a:bodyPr/>
        <a:lstStyle/>
        <a:p>
          <a:endParaRPr lang="en-US"/>
        </a:p>
      </dgm:t>
    </dgm:pt>
    <dgm:pt modelId="{6A25F018-42D7-4BBC-B785-1903AAE1F3A1}" type="pres">
      <dgm:prSet presAssocID="{4AAB3F01-FBBE-4AF0-BF70-9FCB28EF65D5}" presName="root" presStyleCnt="0">
        <dgm:presLayoutVars>
          <dgm:dir/>
          <dgm:resizeHandles val="exact"/>
        </dgm:presLayoutVars>
      </dgm:prSet>
      <dgm:spPr/>
    </dgm:pt>
    <dgm:pt modelId="{649D5AA3-D37F-4A91-9513-2F83210A12EC}" type="pres">
      <dgm:prSet presAssocID="{C032B6DD-8084-4ADC-8B85-4E81E77B1458}" presName="compNode" presStyleCnt="0"/>
      <dgm:spPr/>
    </dgm:pt>
    <dgm:pt modelId="{66CC6178-FED4-4445-965F-3859D2B47CD5}" type="pres">
      <dgm:prSet presAssocID="{C032B6DD-8084-4ADC-8B85-4E81E77B1458}" presName="iconBgRect" presStyleLbl="bgShp" presStyleIdx="0" presStyleCnt="5"/>
      <dgm:spPr/>
    </dgm:pt>
    <dgm:pt modelId="{60C0F0E5-F89A-46A5-8AC3-D51325FD1A2E}" type="pres">
      <dgm:prSet presAssocID="{C032B6DD-8084-4ADC-8B85-4E81E77B145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77A87EDC-A69E-469E-ADD4-416E0210C5ED}" type="pres">
      <dgm:prSet presAssocID="{C032B6DD-8084-4ADC-8B85-4E81E77B1458}" presName="spaceRect" presStyleCnt="0"/>
      <dgm:spPr/>
    </dgm:pt>
    <dgm:pt modelId="{C36E7CA7-1697-48C6-9467-9BCCD9EF6E7A}" type="pres">
      <dgm:prSet presAssocID="{C032B6DD-8084-4ADC-8B85-4E81E77B1458}" presName="textRect" presStyleLbl="revTx" presStyleIdx="0" presStyleCnt="5">
        <dgm:presLayoutVars>
          <dgm:chMax val="1"/>
          <dgm:chPref val="1"/>
        </dgm:presLayoutVars>
      </dgm:prSet>
      <dgm:spPr/>
    </dgm:pt>
    <dgm:pt modelId="{6065B1CE-7A72-464A-A78A-2DD98249B7C2}" type="pres">
      <dgm:prSet presAssocID="{8C5BFB7E-916E-4EA5-96EB-B307C61A9AD2}" presName="sibTrans" presStyleCnt="0"/>
      <dgm:spPr/>
    </dgm:pt>
    <dgm:pt modelId="{6761A920-6056-47C3-A4C1-A5BA57D4F671}" type="pres">
      <dgm:prSet presAssocID="{8AB2787E-F57E-443D-8DB1-5E9EC9B03F8C}" presName="compNode" presStyleCnt="0"/>
      <dgm:spPr/>
    </dgm:pt>
    <dgm:pt modelId="{0AB66FD1-1A9B-4BEC-BEE7-76513AD26D45}" type="pres">
      <dgm:prSet presAssocID="{8AB2787E-F57E-443D-8DB1-5E9EC9B03F8C}" presName="iconBgRect" presStyleLbl="bgShp" presStyleIdx="1" presStyleCnt="5"/>
      <dgm:spPr/>
    </dgm:pt>
    <dgm:pt modelId="{A71A1884-947F-4D1A-BEF5-FDE56E8EE2A6}" type="pres">
      <dgm:prSet presAssocID="{8AB2787E-F57E-443D-8DB1-5E9EC9B03F8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C80B0705-C4E1-4CBB-95F8-2E7C7FEF8926}" type="pres">
      <dgm:prSet presAssocID="{8AB2787E-F57E-443D-8DB1-5E9EC9B03F8C}" presName="spaceRect" presStyleCnt="0"/>
      <dgm:spPr/>
    </dgm:pt>
    <dgm:pt modelId="{CDFB7F86-0A2A-4AE2-9616-817AC0E15BF0}" type="pres">
      <dgm:prSet presAssocID="{8AB2787E-F57E-443D-8DB1-5E9EC9B03F8C}" presName="textRect" presStyleLbl="revTx" presStyleIdx="1" presStyleCnt="5">
        <dgm:presLayoutVars>
          <dgm:chMax val="1"/>
          <dgm:chPref val="1"/>
        </dgm:presLayoutVars>
      </dgm:prSet>
      <dgm:spPr/>
    </dgm:pt>
    <dgm:pt modelId="{363E22C7-2DA9-45A2-A1B4-ED6D4FD22FD7}" type="pres">
      <dgm:prSet presAssocID="{22E95425-26BE-450F-A5B2-ACD1F56638F8}" presName="sibTrans" presStyleCnt="0"/>
      <dgm:spPr/>
    </dgm:pt>
    <dgm:pt modelId="{6B2F6838-E0E5-4CC5-9101-66213491C1DB}" type="pres">
      <dgm:prSet presAssocID="{A0AD51CB-AD94-4AC5-8FBA-5FFE613E7462}" presName="compNode" presStyleCnt="0"/>
      <dgm:spPr/>
    </dgm:pt>
    <dgm:pt modelId="{5D1960E3-3158-4EEF-B1B9-ED06828D1A60}" type="pres">
      <dgm:prSet presAssocID="{A0AD51CB-AD94-4AC5-8FBA-5FFE613E7462}" presName="iconBgRect" presStyleLbl="bgShp" presStyleIdx="2" presStyleCnt="5"/>
      <dgm:spPr/>
    </dgm:pt>
    <dgm:pt modelId="{D876BF14-3306-4464-9EFC-20B36D49069B}" type="pres">
      <dgm:prSet presAssocID="{A0AD51CB-AD94-4AC5-8FBA-5FFE613E746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ehouse with solid fill"/>
        </a:ext>
      </dgm:extLst>
    </dgm:pt>
    <dgm:pt modelId="{F383AA16-D907-45BA-9917-08D46CF61EB4}" type="pres">
      <dgm:prSet presAssocID="{A0AD51CB-AD94-4AC5-8FBA-5FFE613E7462}" presName="spaceRect" presStyleCnt="0"/>
      <dgm:spPr/>
    </dgm:pt>
    <dgm:pt modelId="{A2B718BF-6398-4757-A663-8DF1141B5150}" type="pres">
      <dgm:prSet presAssocID="{A0AD51CB-AD94-4AC5-8FBA-5FFE613E7462}" presName="textRect" presStyleLbl="revTx" presStyleIdx="2" presStyleCnt="5">
        <dgm:presLayoutVars>
          <dgm:chMax val="1"/>
          <dgm:chPref val="1"/>
        </dgm:presLayoutVars>
      </dgm:prSet>
      <dgm:spPr/>
    </dgm:pt>
    <dgm:pt modelId="{841C58EB-8071-4DE8-8B46-EA35865E357A}" type="pres">
      <dgm:prSet presAssocID="{799C6EFB-E507-4BB9-920C-196E05A2374C}" presName="sibTrans" presStyleCnt="0"/>
      <dgm:spPr/>
    </dgm:pt>
    <dgm:pt modelId="{D7944F89-CB25-4353-8152-0E1BFC13D4AB}" type="pres">
      <dgm:prSet presAssocID="{D01F2335-8839-41A3-B54F-6B56F5D6DC5E}" presName="compNode" presStyleCnt="0"/>
      <dgm:spPr/>
    </dgm:pt>
    <dgm:pt modelId="{60641916-6823-490F-A3EC-DDE1A445CA8E}" type="pres">
      <dgm:prSet presAssocID="{D01F2335-8839-41A3-B54F-6B56F5D6DC5E}" presName="iconBgRect" presStyleLbl="bgShp" presStyleIdx="3" presStyleCnt="5"/>
      <dgm:spPr/>
    </dgm:pt>
    <dgm:pt modelId="{CDAA00F8-4AB7-4EDA-ACC4-DEC2DAA18083}" type="pres">
      <dgm:prSet presAssocID="{D01F2335-8839-41A3-B54F-6B56F5D6DC5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B6D2412-81EA-4E96-B4AD-944E0FDA77E9}" type="pres">
      <dgm:prSet presAssocID="{D01F2335-8839-41A3-B54F-6B56F5D6DC5E}" presName="spaceRect" presStyleCnt="0"/>
      <dgm:spPr/>
    </dgm:pt>
    <dgm:pt modelId="{CCD99E86-FEB9-4471-AA04-2DF20367DDA7}" type="pres">
      <dgm:prSet presAssocID="{D01F2335-8839-41A3-B54F-6B56F5D6DC5E}" presName="textRect" presStyleLbl="revTx" presStyleIdx="3" presStyleCnt="5">
        <dgm:presLayoutVars>
          <dgm:chMax val="1"/>
          <dgm:chPref val="1"/>
        </dgm:presLayoutVars>
      </dgm:prSet>
      <dgm:spPr/>
    </dgm:pt>
    <dgm:pt modelId="{93558C2F-76EF-4449-B0FF-F7849D63F333}" type="pres">
      <dgm:prSet presAssocID="{243A2B6D-6701-496D-8670-D040C462F7D7}" presName="sibTrans" presStyleCnt="0"/>
      <dgm:spPr/>
    </dgm:pt>
    <dgm:pt modelId="{4A3BE7CA-745D-464A-B954-D84B5B5F6B52}" type="pres">
      <dgm:prSet presAssocID="{2F18FF9A-8894-4207-B870-17B1D16B7973}" presName="compNode" presStyleCnt="0"/>
      <dgm:spPr/>
    </dgm:pt>
    <dgm:pt modelId="{3D4BA8CB-5632-4D2F-A150-0BCAF732923E}" type="pres">
      <dgm:prSet presAssocID="{2F18FF9A-8894-4207-B870-17B1D16B7973}" presName="iconBgRect" presStyleLbl="bgShp" presStyleIdx="4" presStyleCnt="5"/>
      <dgm:spPr/>
    </dgm:pt>
    <dgm:pt modelId="{19466C3B-FFBB-4BEA-9FE5-67337E6E7504}" type="pres">
      <dgm:prSet presAssocID="{2F18FF9A-8894-4207-B870-17B1D16B797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57664B7-E2F4-4B1E-A858-57161F80CB37}" type="pres">
      <dgm:prSet presAssocID="{2F18FF9A-8894-4207-B870-17B1D16B7973}" presName="spaceRect" presStyleCnt="0"/>
      <dgm:spPr/>
    </dgm:pt>
    <dgm:pt modelId="{B9308A02-734A-434A-ACE4-C6E0EFE4E18E}" type="pres">
      <dgm:prSet presAssocID="{2F18FF9A-8894-4207-B870-17B1D16B797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709D505-DC6E-4884-9468-58963E3CFA12}" type="presOf" srcId="{2F18FF9A-8894-4207-B870-17B1D16B7973}" destId="{B9308A02-734A-434A-ACE4-C6E0EFE4E18E}" srcOrd="0" destOrd="0" presId="urn:microsoft.com/office/officeart/2018/5/layout/IconCircleLabelList"/>
    <dgm:cxn modelId="{00F2530F-32E2-42E3-A61A-0FDE19AE7860}" srcId="{4AAB3F01-FBBE-4AF0-BF70-9FCB28EF65D5}" destId="{C032B6DD-8084-4ADC-8B85-4E81E77B1458}" srcOrd="0" destOrd="0" parTransId="{77D7C83E-3730-40E6-AF62-34976EF877C5}" sibTransId="{8C5BFB7E-916E-4EA5-96EB-B307C61A9AD2}"/>
    <dgm:cxn modelId="{64346533-E210-4BEB-827B-FD177EA9B91E}" type="presOf" srcId="{C032B6DD-8084-4ADC-8B85-4E81E77B1458}" destId="{C36E7CA7-1697-48C6-9467-9BCCD9EF6E7A}" srcOrd="0" destOrd="0" presId="urn:microsoft.com/office/officeart/2018/5/layout/IconCircleLabelList"/>
    <dgm:cxn modelId="{C79D6340-26F1-45BF-A0CB-5C43E31F875B}" srcId="{4AAB3F01-FBBE-4AF0-BF70-9FCB28EF65D5}" destId="{A0AD51CB-AD94-4AC5-8FBA-5FFE613E7462}" srcOrd="2" destOrd="0" parTransId="{FE8F0218-E225-4AF0-AA64-80D8CF963087}" sibTransId="{799C6EFB-E507-4BB9-920C-196E05A2374C}"/>
    <dgm:cxn modelId="{98686C4F-30AD-43EA-A100-ED41F9F56716}" srcId="{4AAB3F01-FBBE-4AF0-BF70-9FCB28EF65D5}" destId="{D01F2335-8839-41A3-B54F-6B56F5D6DC5E}" srcOrd="3" destOrd="0" parTransId="{5F2BD271-D860-4F73-B062-1C7745E1F794}" sibTransId="{243A2B6D-6701-496D-8670-D040C462F7D7}"/>
    <dgm:cxn modelId="{6F844052-3D62-4A18-BEDA-CF49202A7336}" srcId="{4AAB3F01-FBBE-4AF0-BF70-9FCB28EF65D5}" destId="{8AB2787E-F57E-443D-8DB1-5E9EC9B03F8C}" srcOrd="1" destOrd="0" parTransId="{5DF51F4C-7369-4404-A673-94A36886E546}" sibTransId="{22E95425-26BE-450F-A5B2-ACD1F56638F8}"/>
    <dgm:cxn modelId="{2D77DA73-2724-4417-9053-B02CE08111E4}" type="presOf" srcId="{A0AD51CB-AD94-4AC5-8FBA-5FFE613E7462}" destId="{A2B718BF-6398-4757-A663-8DF1141B5150}" srcOrd="0" destOrd="0" presId="urn:microsoft.com/office/officeart/2018/5/layout/IconCircleLabelList"/>
    <dgm:cxn modelId="{54099695-7770-4CB4-A046-9CB112B4EB5F}" type="presOf" srcId="{8AB2787E-F57E-443D-8DB1-5E9EC9B03F8C}" destId="{CDFB7F86-0A2A-4AE2-9616-817AC0E15BF0}" srcOrd="0" destOrd="0" presId="urn:microsoft.com/office/officeart/2018/5/layout/IconCircleLabelList"/>
    <dgm:cxn modelId="{3665E395-A129-42CA-A534-7E9A43627D99}" type="presOf" srcId="{4AAB3F01-FBBE-4AF0-BF70-9FCB28EF65D5}" destId="{6A25F018-42D7-4BBC-B785-1903AAE1F3A1}" srcOrd="0" destOrd="0" presId="urn:microsoft.com/office/officeart/2018/5/layout/IconCircleLabelList"/>
    <dgm:cxn modelId="{FEF51DAA-A180-49D4-8E32-6D4CC4D28B80}" srcId="{4AAB3F01-FBBE-4AF0-BF70-9FCB28EF65D5}" destId="{2F18FF9A-8894-4207-B870-17B1D16B7973}" srcOrd="4" destOrd="0" parTransId="{46BE7C12-DD9E-4061-B481-931B5A0EB482}" sibTransId="{6FF121BF-C443-4F8B-88D7-1C26B62DAB82}"/>
    <dgm:cxn modelId="{D7B6E5BE-57CE-4D4B-A803-0B8C94528089}" type="presOf" srcId="{D01F2335-8839-41A3-B54F-6B56F5D6DC5E}" destId="{CCD99E86-FEB9-4471-AA04-2DF20367DDA7}" srcOrd="0" destOrd="0" presId="urn:microsoft.com/office/officeart/2018/5/layout/IconCircleLabelList"/>
    <dgm:cxn modelId="{C05D7FEF-DBDB-4F14-9ED8-2B70FC804017}" type="presParOf" srcId="{6A25F018-42D7-4BBC-B785-1903AAE1F3A1}" destId="{649D5AA3-D37F-4A91-9513-2F83210A12EC}" srcOrd="0" destOrd="0" presId="urn:microsoft.com/office/officeart/2018/5/layout/IconCircleLabelList"/>
    <dgm:cxn modelId="{871387A3-0610-41D9-961E-C5DE745EB3F9}" type="presParOf" srcId="{649D5AA3-D37F-4A91-9513-2F83210A12EC}" destId="{66CC6178-FED4-4445-965F-3859D2B47CD5}" srcOrd="0" destOrd="0" presId="urn:microsoft.com/office/officeart/2018/5/layout/IconCircleLabelList"/>
    <dgm:cxn modelId="{6B86A74F-917C-4C78-BE44-BDA50B9F4179}" type="presParOf" srcId="{649D5AA3-D37F-4A91-9513-2F83210A12EC}" destId="{60C0F0E5-F89A-46A5-8AC3-D51325FD1A2E}" srcOrd="1" destOrd="0" presId="urn:microsoft.com/office/officeart/2018/5/layout/IconCircleLabelList"/>
    <dgm:cxn modelId="{7228A56B-921A-47B1-AE0C-46CE6CF10AFF}" type="presParOf" srcId="{649D5AA3-D37F-4A91-9513-2F83210A12EC}" destId="{77A87EDC-A69E-469E-ADD4-416E0210C5ED}" srcOrd="2" destOrd="0" presId="urn:microsoft.com/office/officeart/2018/5/layout/IconCircleLabelList"/>
    <dgm:cxn modelId="{ADB74A9B-D521-4F87-B86C-A6AD2BCDAF53}" type="presParOf" srcId="{649D5AA3-D37F-4A91-9513-2F83210A12EC}" destId="{C36E7CA7-1697-48C6-9467-9BCCD9EF6E7A}" srcOrd="3" destOrd="0" presId="urn:microsoft.com/office/officeart/2018/5/layout/IconCircleLabelList"/>
    <dgm:cxn modelId="{518B3AFC-BE88-404C-8FC5-DC1FFA0E547C}" type="presParOf" srcId="{6A25F018-42D7-4BBC-B785-1903AAE1F3A1}" destId="{6065B1CE-7A72-464A-A78A-2DD98249B7C2}" srcOrd="1" destOrd="0" presId="urn:microsoft.com/office/officeart/2018/5/layout/IconCircleLabelList"/>
    <dgm:cxn modelId="{0C897DFF-276B-431E-9A43-DE368B2A5D92}" type="presParOf" srcId="{6A25F018-42D7-4BBC-B785-1903AAE1F3A1}" destId="{6761A920-6056-47C3-A4C1-A5BA57D4F671}" srcOrd="2" destOrd="0" presId="urn:microsoft.com/office/officeart/2018/5/layout/IconCircleLabelList"/>
    <dgm:cxn modelId="{C433167D-46B7-45D4-A082-4B40173D33C6}" type="presParOf" srcId="{6761A920-6056-47C3-A4C1-A5BA57D4F671}" destId="{0AB66FD1-1A9B-4BEC-BEE7-76513AD26D45}" srcOrd="0" destOrd="0" presId="urn:microsoft.com/office/officeart/2018/5/layout/IconCircleLabelList"/>
    <dgm:cxn modelId="{C97B3CED-EE30-4EF9-B8F3-2621EB391D2C}" type="presParOf" srcId="{6761A920-6056-47C3-A4C1-A5BA57D4F671}" destId="{A71A1884-947F-4D1A-BEF5-FDE56E8EE2A6}" srcOrd="1" destOrd="0" presId="urn:microsoft.com/office/officeart/2018/5/layout/IconCircleLabelList"/>
    <dgm:cxn modelId="{E51F3CFF-7956-4015-B14B-B3F3C7D56B41}" type="presParOf" srcId="{6761A920-6056-47C3-A4C1-A5BA57D4F671}" destId="{C80B0705-C4E1-4CBB-95F8-2E7C7FEF8926}" srcOrd="2" destOrd="0" presId="urn:microsoft.com/office/officeart/2018/5/layout/IconCircleLabelList"/>
    <dgm:cxn modelId="{FF1F28A8-CCB4-4B7A-AA66-9A70FE6F41E3}" type="presParOf" srcId="{6761A920-6056-47C3-A4C1-A5BA57D4F671}" destId="{CDFB7F86-0A2A-4AE2-9616-817AC0E15BF0}" srcOrd="3" destOrd="0" presId="urn:microsoft.com/office/officeart/2018/5/layout/IconCircleLabelList"/>
    <dgm:cxn modelId="{228E8D11-0A3B-40BC-936D-5680BA0D14A3}" type="presParOf" srcId="{6A25F018-42D7-4BBC-B785-1903AAE1F3A1}" destId="{363E22C7-2DA9-45A2-A1B4-ED6D4FD22FD7}" srcOrd="3" destOrd="0" presId="urn:microsoft.com/office/officeart/2018/5/layout/IconCircleLabelList"/>
    <dgm:cxn modelId="{9F2D1AB4-42C6-4D9E-8C82-8CBD888F33A2}" type="presParOf" srcId="{6A25F018-42D7-4BBC-B785-1903AAE1F3A1}" destId="{6B2F6838-E0E5-4CC5-9101-66213491C1DB}" srcOrd="4" destOrd="0" presId="urn:microsoft.com/office/officeart/2018/5/layout/IconCircleLabelList"/>
    <dgm:cxn modelId="{0C8E94E8-A829-4DD3-BB28-F3969E1D1CAA}" type="presParOf" srcId="{6B2F6838-E0E5-4CC5-9101-66213491C1DB}" destId="{5D1960E3-3158-4EEF-B1B9-ED06828D1A60}" srcOrd="0" destOrd="0" presId="urn:microsoft.com/office/officeart/2018/5/layout/IconCircleLabelList"/>
    <dgm:cxn modelId="{16B7C1CD-D1DC-442D-8DE5-77631BF416C0}" type="presParOf" srcId="{6B2F6838-E0E5-4CC5-9101-66213491C1DB}" destId="{D876BF14-3306-4464-9EFC-20B36D49069B}" srcOrd="1" destOrd="0" presId="urn:microsoft.com/office/officeart/2018/5/layout/IconCircleLabelList"/>
    <dgm:cxn modelId="{E259C0C2-D1F8-450C-A8DB-4130FAB8F7BC}" type="presParOf" srcId="{6B2F6838-E0E5-4CC5-9101-66213491C1DB}" destId="{F383AA16-D907-45BA-9917-08D46CF61EB4}" srcOrd="2" destOrd="0" presId="urn:microsoft.com/office/officeart/2018/5/layout/IconCircleLabelList"/>
    <dgm:cxn modelId="{CBB7ACF2-2CEB-433A-B479-3935577C3F87}" type="presParOf" srcId="{6B2F6838-E0E5-4CC5-9101-66213491C1DB}" destId="{A2B718BF-6398-4757-A663-8DF1141B5150}" srcOrd="3" destOrd="0" presId="urn:microsoft.com/office/officeart/2018/5/layout/IconCircleLabelList"/>
    <dgm:cxn modelId="{A6681154-09CD-461D-AE2C-774AA0AB42D9}" type="presParOf" srcId="{6A25F018-42D7-4BBC-B785-1903AAE1F3A1}" destId="{841C58EB-8071-4DE8-8B46-EA35865E357A}" srcOrd="5" destOrd="0" presId="urn:microsoft.com/office/officeart/2018/5/layout/IconCircleLabelList"/>
    <dgm:cxn modelId="{C542EAE7-D193-455B-8D57-BB9ABD68E59B}" type="presParOf" srcId="{6A25F018-42D7-4BBC-B785-1903AAE1F3A1}" destId="{D7944F89-CB25-4353-8152-0E1BFC13D4AB}" srcOrd="6" destOrd="0" presId="urn:microsoft.com/office/officeart/2018/5/layout/IconCircleLabelList"/>
    <dgm:cxn modelId="{11F22D31-33AB-4D39-B5A1-F69E11DD8DBD}" type="presParOf" srcId="{D7944F89-CB25-4353-8152-0E1BFC13D4AB}" destId="{60641916-6823-490F-A3EC-DDE1A445CA8E}" srcOrd="0" destOrd="0" presId="urn:microsoft.com/office/officeart/2018/5/layout/IconCircleLabelList"/>
    <dgm:cxn modelId="{81EEE7DF-5E46-4C0E-AEF4-3C7D7220DFAF}" type="presParOf" srcId="{D7944F89-CB25-4353-8152-0E1BFC13D4AB}" destId="{CDAA00F8-4AB7-4EDA-ACC4-DEC2DAA18083}" srcOrd="1" destOrd="0" presId="urn:microsoft.com/office/officeart/2018/5/layout/IconCircleLabelList"/>
    <dgm:cxn modelId="{EBDD1FF3-32DF-4CA0-AF3E-6DCDC0FA97BF}" type="presParOf" srcId="{D7944F89-CB25-4353-8152-0E1BFC13D4AB}" destId="{5B6D2412-81EA-4E96-B4AD-944E0FDA77E9}" srcOrd="2" destOrd="0" presId="urn:microsoft.com/office/officeart/2018/5/layout/IconCircleLabelList"/>
    <dgm:cxn modelId="{81E0ACDF-3A36-44F5-B284-3B88F00D0A02}" type="presParOf" srcId="{D7944F89-CB25-4353-8152-0E1BFC13D4AB}" destId="{CCD99E86-FEB9-4471-AA04-2DF20367DDA7}" srcOrd="3" destOrd="0" presId="urn:microsoft.com/office/officeart/2018/5/layout/IconCircleLabelList"/>
    <dgm:cxn modelId="{E6E093E5-3C1D-439E-AD13-BDC52435D1AF}" type="presParOf" srcId="{6A25F018-42D7-4BBC-B785-1903AAE1F3A1}" destId="{93558C2F-76EF-4449-B0FF-F7849D63F333}" srcOrd="7" destOrd="0" presId="urn:microsoft.com/office/officeart/2018/5/layout/IconCircleLabelList"/>
    <dgm:cxn modelId="{1749249A-0ED3-4A78-A1BA-DEB062F8BD15}" type="presParOf" srcId="{6A25F018-42D7-4BBC-B785-1903AAE1F3A1}" destId="{4A3BE7CA-745D-464A-B954-D84B5B5F6B52}" srcOrd="8" destOrd="0" presId="urn:microsoft.com/office/officeart/2018/5/layout/IconCircleLabelList"/>
    <dgm:cxn modelId="{D5A1B7E6-4134-4F94-91D4-B40284E7D5BC}" type="presParOf" srcId="{4A3BE7CA-745D-464A-B954-D84B5B5F6B52}" destId="{3D4BA8CB-5632-4D2F-A150-0BCAF732923E}" srcOrd="0" destOrd="0" presId="urn:microsoft.com/office/officeart/2018/5/layout/IconCircleLabelList"/>
    <dgm:cxn modelId="{EA3968EF-878E-4C2B-8A83-065642492FD0}" type="presParOf" srcId="{4A3BE7CA-745D-464A-B954-D84B5B5F6B52}" destId="{19466C3B-FFBB-4BEA-9FE5-67337E6E7504}" srcOrd="1" destOrd="0" presId="urn:microsoft.com/office/officeart/2018/5/layout/IconCircleLabelList"/>
    <dgm:cxn modelId="{1F5A370B-FF00-4D2F-B66D-AB48EF4004D7}" type="presParOf" srcId="{4A3BE7CA-745D-464A-B954-D84B5B5F6B52}" destId="{A57664B7-E2F4-4B1E-A858-57161F80CB37}" srcOrd="2" destOrd="0" presId="urn:microsoft.com/office/officeart/2018/5/layout/IconCircleLabelList"/>
    <dgm:cxn modelId="{8DBC16DC-3614-45BF-A130-EFA5825117D5}" type="presParOf" srcId="{4A3BE7CA-745D-464A-B954-D84B5B5F6B52}" destId="{B9308A02-734A-434A-ACE4-C6E0EFE4E18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A0A759-F045-46BF-B306-5DE3DB558F1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795702-861A-43C4-850C-661BD9C0EBC4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Il team marketing sta decidendo dove investire il prossimo aumento di budget per campagne a pagamento.</a:t>
          </a:r>
          <a:endParaRPr lang="en-US" dirty="0"/>
        </a:p>
      </dgm:t>
    </dgm:pt>
    <dgm:pt modelId="{99EFF7E2-6702-47A4-83A4-891767FAE09D}" type="parTrans" cxnId="{2E8E543E-5EDE-47B0-981C-968B11BDBD65}">
      <dgm:prSet/>
      <dgm:spPr/>
      <dgm:t>
        <a:bodyPr/>
        <a:lstStyle/>
        <a:p>
          <a:endParaRPr lang="en-US"/>
        </a:p>
      </dgm:t>
    </dgm:pt>
    <dgm:pt modelId="{04C7F675-2BB7-44B3-9836-6135E5EEE7BE}" type="sibTrans" cxnId="{2E8E543E-5EDE-47B0-981C-968B11BDBD65}">
      <dgm:prSet/>
      <dgm:spPr/>
      <dgm:t>
        <a:bodyPr/>
        <a:lstStyle/>
        <a:p>
          <a:endParaRPr lang="en-US"/>
        </a:p>
      </dgm:t>
    </dgm:pt>
    <dgm:pt modelId="{8476D0E6-A6CD-494F-A9E1-C5198D8B207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La Germania ha un conversion rate (2025) leggermente superiore alla Cina, ma la differenza potrebbe essere casuale.</a:t>
          </a:r>
          <a:endParaRPr lang="en-US" dirty="0"/>
        </a:p>
      </dgm:t>
    </dgm:pt>
    <dgm:pt modelId="{4AC8A620-400D-47DF-BFA8-557A68D4E72F}" type="parTrans" cxnId="{E33032B3-6337-4DE1-B481-4EF2CFDBF5A4}">
      <dgm:prSet/>
      <dgm:spPr/>
      <dgm:t>
        <a:bodyPr/>
        <a:lstStyle/>
        <a:p>
          <a:endParaRPr lang="en-US"/>
        </a:p>
      </dgm:t>
    </dgm:pt>
    <dgm:pt modelId="{326FEEEB-6E4B-42B1-B8A3-8B032787EBA5}" type="sibTrans" cxnId="{E33032B3-6337-4DE1-B481-4EF2CFDBF5A4}">
      <dgm:prSet/>
      <dgm:spPr/>
      <dgm:t>
        <a:bodyPr/>
        <a:lstStyle/>
        <a:p>
          <a:endParaRPr lang="en-US"/>
        </a:p>
      </dgm:t>
    </dgm:pt>
    <dgm:pt modelId="{AA0310A0-2107-4566-8A03-C0ED742577FC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Si richiede una verifica statistica rigorosa della differenza.</a:t>
          </a:r>
          <a:endParaRPr lang="en-US"/>
        </a:p>
      </dgm:t>
    </dgm:pt>
    <dgm:pt modelId="{EAA8B01D-727C-4CBF-A0FE-6D8A139C9D45}" type="parTrans" cxnId="{EEB1CBBD-8B5E-4B50-8C94-DF6227C33241}">
      <dgm:prSet/>
      <dgm:spPr/>
      <dgm:t>
        <a:bodyPr/>
        <a:lstStyle/>
        <a:p>
          <a:endParaRPr lang="en-US"/>
        </a:p>
      </dgm:t>
    </dgm:pt>
    <dgm:pt modelId="{CB7C2AB7-5CC0-49A7-8A8B-596CA4E8391C}" type="sibTrans" cxnId="{EEB1CBBD-8B5E-4B50-8C94-DF6227C33241}">
      <dgm:prSet/>
      <dgm:spPr/>
      <dgm:t>
        <a:bodyPr/>
        <a:lstStyle/>
        <a:p>
          <a:endParaRPr lang="en-US"/>
        </a:p>
      </dgm:t>
    </dgm:pt>
    <dgm:pt modelId="{E854DE79-E17F-4D43-9ABB-E0675353987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Si utilizza un permutation test per confrontare i conversion rate, evitando ipotesi forti sulla distribuzione dei dati.</a:t>
          </a:r>
          <a:endParaRPr lang="en-US"/>
        </a:p>
      </dgm:t>
    </dgm:pt>
    <dgm:pt modelId="{CF5CEEC5-74AF-4441-AAAA-2436F6F53392}" type="parTrans" cxnId="{6809CCA8-3181-4883-A0D9-66E6BB78787A}">
      <dgm:prSet/>
      <dgm:spPr/>
      <dgm:t>
        <a:bodyPr/>
        <a:lstStyle/>
        <a:p>
          <a:endParaRPr lang="en-US"/>
        </a:p>
      </dgm:t>
    </dgm:pt>
    <dgm:pt modelId="{A3E980CC-5AC9-40E7-AEF5-21D30D69DEE2}" type="sibTrans" cxnId="{6809CCA8-3181-4883-A0D9-66E6BB78787A}">
      <dgm:prSet/>
      <dgm:spPr/>
      <dgm:t>
        <a:bodyPr/>
        <a:lstStyle/>
        <a:p>
          <a:endParaRPr lang="en-US"/>
        </a:p>
      </dgm:t>
    </dgm:pt>
    <dgm:pt modelId="{DFFF6CEE-AED3-4D31-AD52-885CA9C7BF10}" type="pres">
      <dgm:prSet presAssocID="{15A0A759-F045-46BF-B306-5DE3DB558F16}" presName="root" presStyleCnt="0">
        <dgm:presLayoutVars>
          <dgm:dir/>
          <dgm:resizeHandles val="exact"/>
        </dgm:presLayoutVars>
      </dgm:prSet>
      <dgm:spPr/>
    </dgm:pt>
    <dgm:pt modelId="{50CC3BE0-96E6-4FFB-BF8C-837A972ADEFC}" type="pres">
      <dgm:prSet presAssocID="{AD795702-861A-43C4-850C-661BD9C0EBC4}" presName="compNode" presStyleCnt="0"/>
      <dgm:spPr/>
    </dgm:pt>
    <dgm:pt modelId="{9F777308-1546-4A49-A98D-A57151376F46}" type="pres">
      <dgm:prSet presAssocID="{AD795702-861A-43C4-850C-661BD9C0EBC4}" presName="bgRect" presStyleLbl="bgShp" presStyleIdx="0" presStyleCnt="4"/>
      <dgm:spPr/>
    </dgm:pt>
    <dgm:pt modelId="{9DC5C361-441D-433D-9FDB-42E1D6086E22}" type="pres">
      <dgm:prSet presAssocID="{AD795702-861A-43C4-850C-661BD9C0EBC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6930A88-BB7D-4379-AAC6-E11E558C950C}" type="pres">
      <dgm:prSet presAssocID="{AD795702-861A-43C4-850C-661BD9C0EBC4}" presName="spaceRect" presStyleCnt="0"/>
      <dgm:spPr/>
    </dgm:pt>
    <dgm:pt modelId="{F4F80973-7238-4E7B-85A6-444391F7F6EA}" type="pres">
      <dgm:prSet presAssocID="{AD795702-861A-43C4-850C-661BD9C0EBC4}" presName="parTx" presStyleLbl="revTx" presStyleIdx="0" presStyleCnt="4">
        <dgm:presLayoutVars>
          <dgm:chMax val="0"/>
          <dgm:chPref val="0"/>
        </dgm:presLayoutVars>
      </dgm:prSet>
      <dgm:spPr/>
    </dgm:pt>
    <dgm:pt modelId="{BC404A8A-7565-4DAB-A12F-A2BEF2AFC915}" type="pres">
      <dgm:prSet presAssocID="{04C7F675-2BB7-44B3-9836-6135E5EEE7BE}" presName="sibTrans" presStyleCnt="0"/>
      <dgm:spPr/>
    </dgm:pt>
    <dgm:pt modelId="{497B6C31-37B5-417D-98A6-EDF7061FC969}" type="pres">
      <dgm:prSet presAssocID="{8476D0E6-A6CD-494F-A9E1-C5198D8B2079}" presName="compNode" presStyleCnt="0"/>
      <dgm:spPr/>
    </dgm:pt>
    <dgm:pt modelId="{DF196E17-A5D4-49CE-A59A-2A1F2E1E58B5}" type="pres">
      <dgm:prSet presAssocID="{8476D0E6-A6CD-494F-A9E1-C5198D8B2079}" presName="bgRect" presStyleLbl="bgShp" presStyleIdx="1" presStyleCnt="4"/>
      <dgm:spPr/>
    </dgm:pt>
    <dgm:pt modelId="{4FFBD642-AB7B-489D-8944-7B43FE2AF129}" type="pres">
      <dgm:prSet presAssocID="{8476D0E6-A6CD-494F-A9E1-C5198D8B207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commerce with solid fill"/>
        </a:ext>
      </dgm:extLst>
    </dgm:pt>
    <dgm:pt modelId="{9011B0AA-E1CD-41FF-AF8C-CEBBE29BC72C}" type="pres">
      <dgm:prSet presAssocID="{8476D0E6-A6CD-494F-A9E1-C5198D8B2079}" presName="spaceRect" presStyleCnt="0"/>
      <dgm:spPr/>
    </dgm:pt>
    <dgm:pt modelId="{2B8B9E71-9CCF-48D2-A09F-2386D573C5EF}" type="pres">
      <dgm:prSet presAssocID="{8476D0E6-A6CD-494F-A9E1-C5198D8B2079}" presName="parTx" presStyleLbl="revTx" presStyleIdx="1" presStyleCnt="4">
        <dgm:presLayoutVars>
          <dgm:chMax val="0"/>
          <dgm:chPref val="0"/>
        </dgm:presLayoutVars>
      </dgm:prSet>
      <dgm:spPr/>
    </dgm:pt>
    <dgm:pt modelId="{11F4634C-ED82-4A0E-A5DC-5B68A05898C9}" type="pres">
      <dgm:prSet presAssocID="{326FEEEB-6E4B-42B1-B8A3-8B032787EBA5}" presName="sibTrans" presStyleCnt="0"/>
      <dgm:spPr/>
    </dgm:pt>
    <dgm:pt modelId="{1526CA22-2239-442B-807E-C4EF062F17D5}" type="pres">
      <dgm:prSet presAssocID="{AA0310A0-2107-4566-8A03-C0ED742577FC}" presName="compNode" presStyleCnt="0"/>
      <dgm:spPr/>
    </dgm:pt>
    <dgm:pt modelId="{53A1A365-97CE-48AB-9E78-4317A458F56C}" type="pres">
      <dgm:prSet presAssocID="{AA0310A0-2107-4566-8A03-C0ED742577FC}" presName="bgRect" presStyleLbl="bgShp" presStyleIdx="2" presStyleCnt="4"/>
      <dgm:spPr/>
    </dgm:pt>
    <dgm:pt modelId="{A542CAFA-6C1F-4016-9E89-07A39450596E}" type="pres">
      <dgm:prSet presAssocID="{AA0310A0-2107-4566-8A03-C0ED742577F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B44546E-8E21-428C-89BB-3B0C9ED62749}" type="pres">
      <dgm:prSet presAssocID="{AA0310A0-2107-4566-8A03-C0ED742577FC}" presName="spaceRect" presStyleCnt="0"/>
      <dgm:spPr/>
    </dgm:pt>
    <dgm:pt modelId="{5350D293-E6FD-47CC-B2FF-F011CE282714}" type="pres">
      <dgm:prSet presAssocID="{AA0310A0-2107-4566-8A03-C0ED742577FC}" presName="parTx" presStyleLbl="revTx" presStyleIdx="2" presStyleCnt="4">
        <dgm:presLayoutVars>
          <dgm:chMax val="0"/>
          <dgm:chPref val="0"/>
        </dgm:presLayoutVars>
      </dgm:prSet>
      <dgm:spPr/>
    </dgm:pt>
    <dgm:pt modelId="{C05D5E2A-9F94-4C20-9A81-66484B888742}" type="pres">
      <dgm:prSet presAssocID="{CB7C2AB7-5CC0-49A7-8A8B-596CA4E8391C}" presName="sibTrans" presStyleCnt="0"/>
      <dgm:spPr/>
    </dgm:pt>
    <dgm:pt modelId="{85A8E1C4-285E-4663-8CB0-2C2E83BEAB75}" type="pres">
      <dgm:prSet presAssocID="{E854DE79-E17F-4D43-9ABB-E06753539873}" presName="compNode" presStyleCnt="0"/>
      <dgm:spPr/>
    </dgm:pt>
    <dgm:pt modelId="{7627BDC8-AE76-40A9-B6E7-4AA8D3F8EC06}" type="pres">
      <dgm:prSet presAssocID="{E854DE79-E17F-4D43-9ABB-E06753539873}" presName="bgRect" presStyleLbl="bgShp" presStyleIdx="3" presStyleCnt="4"/>
      <dgm:spPr/>
    </dgm:pt>
    <dgm:pt modelId="{D187074B-3579-4F04-91FE-081FF183FE6F}" type="pres">
      <dgm:prSet presAssocID="{E854DE79-E17F-4D43-9ABB-E0675353987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rmal Distribution with solid fill"/>
        </a:ext>
      </dgm:extLst>
    </dgm:pt>
    <dgm:pt modelId="{5A53207D-4490-4897-A248-186D693B7DC6}" type="pres">
      <dgm:prSet presAssocID="{E854DE79-E17F-4D43-9ABB-E06753539873}" presName="spaceRect" presStyleCnt="0"/>
      <dgm:spPr/>
    </dgm:pt>
    <dgm:pt modelId="{B573148E-C282-4FE8-BE31-E046D2D55847}" type="pres">
      <dgm:prSet presAssocID="{E854DE79-E17F-4D43-9ABB-E0675353987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4EEF50D-BF56-4B5A-BC1E-1B5DF87A0522}" type="presOf" srcId="{E854DE79-E17F-4D43-9ABB-E06753539873}" destId="{B573148E-C282-4FE8-BE31-E046D2D55847}" srcOrd="0" destOrd="0" presId="urn:microsoft.com/office/officeart/2018/2/layout/IconVerticalSolidList"/>
    <dgm:cxn modelId="{B98EE21C-3397-44A8-917B-A2354E49BD8F}" type="presOf" srcId="{AD795702-861A-43C4-850C-661BD9C0EBC4}" destId="{F4F80973-7238-4E7B-85A6-444391F7F6EA}" srcOrd="0" destOrd="0" presId="urn:microsoft.com/office/officeart/2018/2/layout/IconVerticalSolidList"/>
    <dgm:cxn modelId="{2E8E543E-5EDE-47B0-981C-968B11BDBD65}" srcId="{15A0A759-F045-46BF-B306-5DE3DB558F16}" destId="{AD795702-861A-43C4-850C-661BD9C0EBC4}" srcOrd="0" destOrd="0" parTransId="{99EFF7E2-6702-47A4-83A4-891767FAE09D}" sibTransId="{04C7F675-2BB7-44B3-9836-6135E5EEE7BE}"/>
    <dgm:cxn modelId="{BC88A885-CF8C-4BE2-82DB-A5783446CE1A}" type="presOf" srcId="{15A0A759-F045-46BF-B306-5DE3DB558F16}" destId="{DFFF6CEE-AED3-4D31-AD52-885CA9C7BF10}" srcOrd="0" destOrd="0" presId="urn:microsoft.com/office/officeart/2018/2/layout/IconVerticalSolidList"/>
    <dgm:cxn modelId="{6809CCA8-3181-4883-A0D9-66E6BB78787A}" srcId="{15A0A759-F045-46BF-B306-5DE3DB558F16}" destId="{E854DE79-E17F-4D43-9ABB-E06753539873}" srcOrd="3" destOrd="0" parTransId="{CF5CEEC5-74AF-4441-AAAA-2436F6F53392}" sibTransId="{A3E980CC-5AC9-40E7-AEF5-21D30D69DEE2}"/>
    <dgm:cxn modelId="{E33032B3-6337-4DE1-B481-4EF2CFDBF5A4}" srcId="{15A0A759-F045-46BF-B306-5DE3DB558F16}" destId="{8476D0E6-A6CD-494F-A9E1-C5198D8B2079}" srcOrd="1" destOrd="0" parTransId="{4AC8A620-400D-47DF-BFA8-557A68D4E72F}" sibTransId="{326FEEEB-6E4B-42B1-B8A3-8B032787EBA5}"/>
    <dgm:cxn modelId="{AB7F2CB6-5203-40EE-8D54-A18AC4ECA19F}" type="presOf" srcId="{8476D0E6-A6CD-494F-A9E1-C5198D8B2079}" destId="{2B8B9E71-9CCF-48D2-A09F-2386D573C5EF}" srcOrd="0" destOrd="0" presId="urn:microsoft.com/office/officeart/2018/2/layout/IconVerticalSolidList"/>
    <dgm:cxn modelId="{EEB1CBBD-8B5E-4B50-8C94-DF6227C33241}" srcId="{15A0A759-F045-46BF-B306-5DE3DB558F16}" destId="{AA0310A0-2107-4566-8A03-C0ED742577FC}" srcOrd="2" destOrd="0" parTransId="{EAA8B01D-727C-4CBF-A0FE-6D8A139C9D45}" sibTransId="{CB7C2AB7-5CC0-49A7-8A8B-596CA4E8391C}"/>
    <dgm:cxn modelId="{EC43D2E4-FD09-41C7-86F9-949E7DC4F92D}" type="presOf" srcId="{AA0310A0-2107-4566-8A03-C0ED742577FC}" destId="{5350D293-E6FD-47CC-B2FF-F011CE282714}" srcOrd="0" destOrd="0" presId="urn:microsoft.com/office/officeart/2018/2/layout/IconVerticalSolidList"/>
    <dgm:cxn modelId="{CFD6F7AD-C799-4EE1-A727-841A6878387B}" type="presParOf" srcId="{DFFF6CEE-AED3-4D31-AD52-885CA9C7BF10}" destId="{50CC3BE0-96E6-4FFB-BF8C-837A972ADEFC}" srcOrd="0" destOrd="0" presId="urn:microsoft.com/office/officeart/2018/2/layout/IconVerticalSolidList"/>
    <dgm:cxn modelId="{94ADA3AA-EA68-4002-A5D2-6B90412BD140}" type="presParOf" srcId="{50CC3BE0-96E6-4FFB-BF8C-837A972ADEFC}" destId="{9F777308-1546-4A49-A98D-A57151376F46}" srcOrd="0" destOrd="0" presId="urn:microsoft.com/office/officeart/2018/2/layout/IconVerticalSolidList"/>
    <dgm:cxn modelId="{8F0E1E26-FC58-4735-91A3-A5E5ED66F542}" type="presParOf" srcId="{50CC3BE0-96E6-4FFB-BF8C-837A972ADEFC}" destId="{9DC5C361-441D-433D-9FDB-42E1D6086E22}" srcOrd="1" destOrd="0" presId="urn:microsoft.com/office/officeart/2018/2/layout/IconVerticalSolidList"/>
    <dgm:cxn modelId="{8108B2AD-09AD-4849-8FD3-20E7570F779B}" type="presParOf" srcId="{50CC3BE0-96E6-4FFB-BF8C-837A972ADEFC}" destId="{A6930A88-BB7D-4379-AAC6-E11E558C950C}" srcOrd="2" destOrd="0" presId="urn:microsoft.com/office/officeart/2018/2/layout/IconVerticalSolidList"/>
    <dgm:cxn modelId="{B730B19C-952C-409F-83E2-EDB59B0C2857}" type="presParOf" srcId="{50CC3BE0-96E6-4FFB-BF8C-837A972ADEFC}" destId="{F4F80973-7238-4E7B-85A6-444391F7F6EA}" srcOrd="3" destOrd="0" presId="urn:microsoft.com/office/officeart/2018/2/layout/IconVerticalSolidList"/>
    <dgm:cxn modelId="{9DD4EE79-1EC6-487C-A9C0-4563BE6B306D}" type="presParOf" srcId="{DFFF6CEE-AED3-4D31-AD52-885CA9C7BF10}" destId="{BC404A8A-7565-4DAB-A12F-A2BEF2AFC915}" srcOrd="1" destOrd="0" presId="urn:microsoft.com/office/officeart/2018/2/layout/IconVerticalSolidList"/>
    <dgm:cxn modelId="{06288DC9-DFC2-4E29-BB8B-0C15FBF9F735}" type="presParOf" srcId="{DFFF6CEE-AED3-4D31-AD52-885CA9C7BF10}" destId="{497B6C31-37B5-417D-98A6-EDF7061FC969}" srcOrd="2" destOrd="0" presId="urn:microsoft.com/office/officeart/2018/2/layout/IconVerticalSolidList"/>
    <dgm:cxn modelId="{D44AAF20-673A-439E-AC79-4DD896D0799A}" type="presParOf" srcId="{497B6C31-37B5-417D-98A6-EDF7061FC969}" destId="{DF196E17-A5D4-49CE-A59A-2A1F2E1E58B5}" srcOrd="0" destOrd="0" presId="urn:microsoft.com/office/officeart/2018/2/layout/IconVerticalSolidList"/>
    <dgm:cxn modelId="{4C3F0194-EA41-4094-B278-E0325D26CEC8}" type="presParOf" srcId="{497B6C31-37B5-417D-98A6-EDF7061FC969}" destId="{4FFBD642-AB7B-489D-8944-7B43FE2AF129}" srcOrd="1" destOrd="0" presId="urn:microsoft.com/office/officeart/2018/2/layout/IconVerticalSolidList"/>
    <dgm:cxn modelId="{4C491C0D-809A-4F4C-AA68-339138C181AC}" type="presParOf" srcId="{497B6C31-37B5-417D-98A6-EDF7061FC969}" destId="{9011B0AA-E1CD-41FF-AF8C-CEBBE29BC72C}" srcOrd="2" destOrd="0" presId="urn:microsoft.com/office/officeart/2018/2/layout/IconVerticalSolidList"/>
    <dgm:cxn modelId="{7A1DC9B3-13FF-4C85-BDE3-267CE5A9FC16}" type="presParOf" srcId="{497B6C31-37B5-417D-98A6-EDF7061FC969}" destId="{2B8B9E71-9CCF-48D2-A09F-2386D573C5EF}" srcOrd="3" destOrd="0" presId="urn:microsoft.com/office/officeart/2018/2/layout/IconVerticalSolidList"/>
    <dgm:cxn modelId="{A6E22E24-BBED-4DE1-BB86-15441B362AD6}" type="presParOf" srcId="{DFFF6CEE-AED3-4D31-AD52-885CA9C7BF10}" destId="{11F4634C-ED82-4A0E-A5DC-5B68A05898C9}" srcOrd="3" destOrd="0" presId="urn:microsoft.com/office/officeart/2018/2/layout/IconVerticalSolidList"/>
    <dgm:cxn modelId="{AA46E160-4533-4BF5-A1E3-C90BD4D676D9}" type="presParOf" srcId="{DFFF6CEE-AED3-4D31-AD52-885CA9C7BF10}" destId="{1526CA22-2239-442B-807E-C4EF062F17D5}" srcOrd="4" destOrd="0" presId="urn:microsoft.com/office/officeart/2018/2/layout/IconVerticalSolidList"/>
    <dgm:cxn modelId="{A03A5907-861B-4E93-8925-33DFA2B6FB12}" type="presParOf" srcId="{1526CA22-2239-442B-807E-C4EF062F17D5}" destId="{53A1A365-97CE-48AB-9E78-4317A458F56C}" srcOrd="0" destOrd="0" presId="urn:microsoft.com/office/officeart/2018/2/layout/IconVerticalSolidList"/>
    <dgm:cxn modelId="{F95CACAE-9F79-4D57-A4ED-565E0C5CD3A5}" type="presParOf" srcId="{1526CA22-2239-442B-807E-C4EF062F17D5}" destId="{A542CAFA-6C1F-4016-9E89-07A39450596E}" srcOrd="1" destOrd="0" presId="urn:microsoft.com/office/officeart/2018/2/layout/IconVerticalSolidList"/>
    <dgm:cxn modelId="{821C0C0B-71EC-45BE-9BB3-CF75D861132D}" type="presParOf" srcId="{1526CA22-2239-442B-807E-C4EF062F17D5}" destId="{6B44546E-8E21-428C-89BB-3B0C9ED62749}" srcOrd="2" destOrd="0" presId="urn:microsoft.com/office/officeart/2018/2/layout/IconVerticalSolidList"/>
    <dgm:cxn modelId="{E79B6A5F-AF40-4D6B-A7FD-321F86E232A3}" type="presParOf" srcId="{1526CA22-2239-442B-807E-C4EF062F17D5}" destId="{5350D293-E6FD-47CC-B2FF-F011CE282714}" srcOrd="3" destOrd="0" presId="urn:microsoft.com/office/officeart/2018/2/layout/IconVerticalSolidList"/>
    <dgm:cxn modelId="{7FDD8887-FDBB-4789-94A8-E25FACD43C96}" type="presParOf" srcId="{DFFF6CEE-AED3-4D31-AD52-885CA9C7BF10}" destId="{C05D5E2A-9F94-4C20-9A81-66484B888742}" srcOrd="5" destOrd="0" presId="urn:microsoft.com/office/officeart/2018/2/layout/IconVerticalSolidList"/>
    <dgm:cxn modelId="{A83A6543-C86F-4116-82F5-817B77462176}" type="presParOf" srcId="{DFFF6CEE-AED3-4D31-AD52-885CA9C7BF10}" destId="{85A8E1C4-285E-4663-8CB0-2C2E83BEAB75}" srcOrd="6" destOrd="0" presId="urn:microsoft.com/office/officeart/2018/2/layout/IconVerticalSolidList"/>
    <dgm:cxn modelId="{4A31CC4D-98AF-41E9-8A7E-2681804790B9}" type="presParOf" srcId="{85A8E1C4-285E-4663-8CB0-2C2E83BEAB75}" destId="{7627BDC8-AE76-40A9-B6E7-4AA8D3F8EC06}" srcOrd="0" destOrd="0" presId="urn:microsoft.com/office/officeart/2018/2/layout/IconVerticalSolidList"/>
    <dgm:cxn modelId="{A7087C65-3D88-4AF3-9726-04855D3FFBF2}" type="presParOf" srcId="{85A8E1C4-285E-4663-8CB0-2C2E83BEAB75}" destId="{D187074B-3579-4F04-91FE-081FF183FE6F}" srcOrd="1" destOrd="0" presId="urn:microsoft.com/office/officeart/2018/2/layout/IconVerticalSolidList"/>
    <dgm:cxn modelId="{84AE52B7-EEBA-450E-80A9-F50A77442258}" type="presParOf" srcId="{85A8E1C4-285E-4663-8CB0-2C2E83BEAB75}" destId="{5A53207D-4490-4897-A248-186D693B7DC6}" srcOrd="2" destOrd="0" presId="urn:microsoft.com/office/officeart/2018/2/layout/IconVerticalSolidList"/>
    <dgm:cxn modelId="{D93A82BA-1683-4A09-8BF1-D8776E3B41A0}" type="presParOf" srcId="{85A8E1C4-285E-4663-8CB0-2C2E83BEAB75}" destId="{B573148E-C282-4FE8-BE31-E046D2D558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CC6178-FED4-4445-965F-3859D2B47CD5}">
      <dsp:nvSpPr>
        <dsp:cNvPr id="0" name=""/>
        <dsp:cNvSpPr/>
      </dsp:nvSpPr>
      <dsp:spPr>
        <a:xfrm>
          <a:off x="308743" y="917581"/>
          <a:ext cx="953244" cy="95324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C0F0E5-F89A-46A5-8AC3-D51325FD1A2E}">
      <dsp:nvSpPr>
        <dsp:cNvPr id="0" name=""/>
        <dsp:cNvSpPr/>
      </dsp:nvSpPr>
      <dsp:spPr>
        <a:xfrm>
          <a:off x="511894" y="1120731"/>
          <a:ext cx="546943" cy="5469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E7CA7-1697-48C6-9467-9BCCD9EF6E7A}">
      <dsp:nvSpPr>
        <dsp:cNvPr id="0" name=""/>
        <dsp:cNvSpPr/>
      </dsp:nvSpPr>
      <dsp:spPr>
        <a:xfrm>
          <a:off x="4018" y="2167737"/>
          <a:ext cx="1562695" cy="800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b="1" kern="1200" dirty="0"/>
            <a:t>Website Activity</a:t>
          </a:r>
          <a:endParaRPr lang="it-IT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kern="1200" dirty="0"/>
            <a:t>Conversion Rate e Traffic Source</a:t>
          </a:r>
          <a:endParaRPr lang="en-US" sz="1100" kern="1200" dirty="0"/>
        </a:p>
      </dsp:txBody>
      <dsp:txXfrm>
        <a:off x="4018" y="2167737"/>
        <a:ext cx="1562695" cy="800881"/>
      </dsp:txXfrm>
    </dsp:sp>
    <dsp:sp modelId="{0AB66FD1-1A9B-4BEC-BEE7-76513AD26D45}">
      <dsp:nvSpPr>
        <dsp:cNvPr id="0" name=""/>
        <dsp:cNvSpPr/>
      </dsp:nvSpPr>
      <dsp:spPr>
        <a:xfrm>
          <a:off x="2144910" y="917581"/>
          <a:ext cx="953244" cy="95324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1A1884-947F-4D1A-BEF5-FDE56E8EE2A6}">
      <dsp:nvSpPr>
        <dsp:cNvPr id="0" name=""/>
        <dsp:cNvSpPr/>
      </dsp:nvSpPr>
      <dsp:spPr>
        <a:xfrm>
          <a:off x="2348061" y="1120731"/>
          <a:ext cx="546943" cy="5469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B7F86-0A2A-4AE2-9616-817AC0E15BF0}">
      <dsp:nvSpPr>
        <dsp:cNvPr id="0" name=""/>
        <dsp:cNvSpPr/>
      </dsp:nvSpPr>
      <dsp:spPr>
        <a:xfrm>
          <a:off x="1840185" y="2167737"/>
          <a:ext cx="1562695" cy="800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b="1" kern="1200" dirty="0"/>
            <a:t>Utenti</a:t>
          </a:r>
          <a:endParaRPr lang="it-IT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kern="1200" dirty="0"/>
            <a:t>provenienza, età, genere</a:t>
          </a:r>
          <a:endParaRPr lang="en-US" sz="1100" kern="1200" dirty="0"/>
        </a:p>
      </dsp:txBody>
      <dsp:txXfrm>
        <a:off x="1840185" y="2167737"/>
        <a:ext cx="1562695" cy="800881"/>
      </dsp:txXfrm>
    </dsp:sp>
    <dsp:sp modelId="{5D1960E3-3158-4EEF-B1B9-ED06828D1A60}">
      <dsp:nvSpPr>
        <dsp:cNvPr id="0" name=""/>
        <dsp:cNvSpPr/>
      </dsp:nvSpPr>
      <dsp:spPr>
        <a:xfrm>
          <a:off x="3981077" y="917581"/>
          <a:ext cx="953244" cy="95324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76BF14-3306-4464-9EFC-20B36D49069B}">
      <dsp:nvSpPr>
        <dsp:cNvPr id="0" name=""/>
        <dsp:cNvSpPr/>
      </dsp:nvSpPr>
      <dsp:spPr>
        <a:xfrm>
          <a:off x="4184228" y="1120731"/>
          <a:ext cx="546943" cy="5469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B718BF-6398-4757-A663-8DF1141B5150}">
      <dsp:nvSpPr>
        <dsp:cNvPr id="0" name=""/>
        <dsp:cNvSpPr/>
      </dsp:nvSpPr>
      <dsp:spPr>
        <a:xfrm>
          <a:off x="3676352" y="2167737"/>
          <a:ext cx="1562695" cy="800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b="1" kern="1200" dirty="0"/>
            <a:t>Logistica</a:t>
          </a:r>
          <a:r>
            <a:rPr lang="it-IT" sz="1100" kern="1200" dirty="0"/>
            <a:t>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kern="1200" dirty="0"/>
            <a:t>prodotti in stock, tempistiche e categorie più presenti in ogni centro di distribuzione</a:t>
          </a:r>
          <a:endParaRPr lang="en-US" sz="1100" kern="1200" dirty="0"/>
        </a:p>
      </dsp:txBody>
      <dsp:txXfrm>
        <a:off x="3676352" y="2167737"/>
        <a:ext cx="1562695" cy="800881"/>
      </dsp:txXfrm>
    </dsp:sp>
    <dsp:sp modelId="{60641916-6823-490F-A3EC-DDE1A445CA8E}">
      <dsp:nvSpPr>
        <dsp:cNvPr id="0" name=""/>
        <dsp:cNvSpPr/>
      </dsp:nvSpPr>
      <dsp:spPr>
        <a:xfrm>
          <a:off x="5817244" y="917581"/>
          <a:ext cx="953244" cy="95324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AA00F8-4AB7-4EDA-ACC4-DEC2DAA18083}">
      <dsp:nvSpPr>
        <dsp:cNvPr id="0" name=""/>
        <dsp:cNvSpPr/>
      </dsp:nvSpPr>
      <dsp:spPr>
        <a:xfrm>
          <a:off x="6020395" y="1120731"/>
          <a:ext cx="546943" cy="5469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D99E86-FEB9-4471-AA04-2DF20367DDA7}">
      <dsp:nvSpPr>
        <dsp:cNvPr id="0" name=""/>
        <dsp:cNvSpPr/>
      </dsp:nvSpPr>
      <dsp:spPr>
        <a:xfrm>
          <a:off x="5512519" y="2167737"/>
          <a:ext cx="1562695" cy="800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b="1" kern="1200" dirty="0"/>
            <a:t>Prodotti</a:t>
          </a:r>
          <a:endParaRPr lang="it-IT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kern="1200" dirty="0"/>
            <a:t>categorie più vendute, più profittevoli, percentuale di resi</a:t>
          </a:r>
          <a:endParaRPr lang="en-US" sz="1100" kern="1200" dirty="0"/>
        </a:p>
      </dsp:txBody>
      <dsp:txXfrm>
        <a:off x="5512519" y="2167737"/>
        <a:ext cx="1562695" cy="800881"/>
      </dsp:txXfrm>
    </dsp:sp>
    <dsp:sp modelId="{3D4BA8CB-5632-4D2F-A150-0BCAF732923E}">
      <dsp:nvSpPr>
        <dsp:cNvPr id="0" name=""/>
        <dsp:cNvSpPr/>
      </dsp:nvSpPr>
      <dsp:spPr>
        <a:xfrm>
          <a:off x="7653411" y="917581"/>
          <a:ext cx="953244" cy="95324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66C3B-FFBB-4BEA-9FE5-67337E6E7504}">
      <dsp:nvSpPr>
        <dsp:cNvPr id="0" name=""/>
        <dsp:cNvSpPr/>
      </dsp:nvSpPr>
      <dsp:spPr>
        <a:xfrm>
          <a:off x="7856562" y="1120731"/>
          <a:ext cx="546943" cy="54694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08A02-734A-434A-ACE4-C6E0EFE4E18E}">
      <dsp:nvSpPr>
        <dsp:cNvPr id="0" name=""/>
        <dsp:cNvSpPr/>
      </dsp:nvSpPr>
      <dsp:spPr>
        <a:xfrm>
          <a:off x="7348686" y="2167737"/>
          <a:ext cx="1562695" cy="800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b="1" kern="1200" dirty="0"/>
            <a:t>Ordini</a:t>
          </a:r>
          <a:endParaRPr lang="it-IT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kern="1200" dirty="0"/>
            <a:t>Analisi quantità e profitto per paese, considerazione dell’età degli utenti</a:t>
          </a:r>
          <a:endParaRPr lang="en-US" sz="1100" kern="1200" dirty="0"/>
        </a:p>
      </dsp:txBody>
      <dsp:txXfrm>
        <a:off x="7348686" y="2167737"/>
        <a:ext cx="1562695" cy="8008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77308-1546-4A49-A98D-A57151376F46}">
      <dsp:nvSpPr>
        <dsp:cNvPr id="0" name=""/>
        <dsp:cNvSpPr/>
      </dsp:nvSpPr>
      <dsp:spPr>
        <a:xfrm>
          <a:off x="0" y="1612"/>
          <a:ext cx="8915400" cy="8174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C5C361-441D-433D-9FDB-42E1D6086E22}">
      <dsp:nvSpPr>
        <dsp:cNvPr id="0" name=""/>
        <dsp:cNvSpPr/>
      </dsp:nvSpPr>
      <dsp:spPr>
        <a:xfrm>
          <a:off x="247284" y="185543"/>
          <a:ext cx="449607" cy="4496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F80973-7238-4E7B-85A6-444391F7F6EA}">
      <dsp:nvSpPr>
        <dsp:cNvPr id="0" name=""/>
        <dsp:cNvSpPr/>
      </dsp:nvSpPr>
      <dsp:spPr>
        <a:xfrm>
          <a:off x="944175" y="1612"/>
          <a:ext cx="7971224" cy="817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15" tIns="86515" rIns="86515" bIns="865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Il team marketing sta decidendo dove investire il prossimo aumento di budget per campagne a pagamento.</a:t>
          </a:r>
          <a:endParaRPr lang="en-US" sz="1900" kern="1200" dirty="0"/>
        </a:p>
      </dsp:txBody>
      <dsp:txXfrm>
        <a:off x="944175" y="1612"/>
        <a:ext cx="7971224" cy="817468"/>
      </dsp:txXfrm>
    </dsp:sp>
    <dsp:sp modelId="{DF196E17-A5D4-49CE-A59A-2A1F2E1E58B5}">
      <dsp:nvSpPr>
        <dsp:cNvPr id="0" name=""/>
        <dsp:cNvSpPr/>
      </dsp:nvSpPr>
      <dsp:spPr>
        <a:xfrm>
          <a:off x="0" y="1023448"/>
          <a:ext cx="8915400" cy="8174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BD642-AB7B-489D-8944-7B43FE2AF129}">
      <dsp:nvSpPr>
        <dsp:cNvPr id="0" name=""/>
        <dsp:cNvSpPr/>
      </dsp:nvSpPr>
      <dsp:spPr>
        <a:xfrm>
          <a:off x="247284" y="1207378"/>
          <a:ext cx="449607" cy="4496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8B9E71-9CCF-48D2-A09F-2386D573C5EF}">
      <dsp:nvSpPr>
        <dsp:cNvPr id="0" name=""/>
        <dsp:cNvSpPr/>
      </dsp:nvSpPr>
      <dsp:spPr>
        <a:xfrm>
          <a:off x="944175" y="1023448"/>
          <a:ext cx="7971224" cy="817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15" tIns="86515" rIns="86515" bIns="865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La Germania ha un conversion rate (2025) leggermente superiore alla Cina, ma la differenza potrebbe essere casuale.</a:t>
          </a:r>
          <a:endParaRPr lang="en-US" sz="1900" kern="1200" dirty="0"/>
        </a:p>
      </dsp:txBody>
      <dsp:txXfrm>
        <a:off x="944175" y="1023448"/>
        <a:ext cx="7971224" cy="817468"/>
      </dsp:txXfrm>
    </dsp:sp>
    <dsp:sp modelId="{53A1A365-97CE-48AB-9E78-4317A458F56C}">
      <dsp:nvSpPr>
        <dsp:cNvPr id="0" name=""/>
        <dsp:cNvSpPr/>
      </dsp:nvSpPr>
      <dsp:spPr>
        <a:xfrm>
          <a:off x="0" y="2045283"/>
          <a:ext cx="8915400" cy="8174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42CAFA-6C1F-4016-9E89-07A39450596E}">
      <dsp:nvSpPr>
        <dsp:cNvPr id="0" name=""/>
        <dsp:cNvSpPr/>
      </dsp:nvSpPr>
      <dsp:spPr>
        <a:xfrm>
          <a:off x="247284" y="2229213"/>
          <a:ext cx="449607" cy="4496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0D293-E6FD-47CC-B2FF-F011CE282714}">
      <dsp:nvSpPr>
        <dsp:cNvPr id="0" name=""/>
        <dsp:cNvSpPr/>
      </dsp:nvSpPr>
      <dsp:spPr>
        <a:xfrm>
          <a:off x="944175" y="2045283"/>
          <a:ext cx="7971224" cy="817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15" tIns="86515" rIns="86515" bIns="865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Si richiede una verifica statistica rigorosa della differenza.</a:t>
          </a:r>
          <a:endParaRPr lang="en-US" sz="1900" kern="1200"/>
        </a:p>
      </dsp:txBody>
      <dsp:txXfrm>
        <a:off x="944175" y="2045283"/>
        <a:ext cx="7971224" cy="817468"/>
      </dsp:txXfrm>
    </dsp:sp>
    <dsp:sp modelId="{7627BDC8-AE76-40A9-B6E7-4AA8D3F8EC06}">
      <dsp:nvSpPr>
        <dsp:cNvPr id="0" name=""/>
        <dsp:cNvSpPr/>
      </dsp:nvSpPr>
      <dsp:spPr>
        <a:xfrm>
          <a:off x="0" y="3067118"/>
          <a:ext cx="8915400" cy="8174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7074B-3579-4F04-91FE-081FF183FE6F}">
      <dsp:nvSpPr>
        <dsp:cNvPr id="0" name=""/>
        <dsp:cNvSpPr/>
      </dsp:nvSpPr>
      <dsp:spPr>
        <a:xfrm>
          <a:off x="247284" y="3251049"/>
          <a:ext cx="449607" cy="4496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73148E-C282-4FE8-BE31-E046D2D55847}">
      <dsp:nvSpPr>
        <dsp:cNvPr id="0" name=""/>
        <dsp:cNvSpPr/>
      </dsp:nvSpPr>
      <dsp:spPr>
        <a:xfrm>
          <a:off x="944175" y="3067118"/>
          <a:ext cx="7971224" cy="817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15" tIns="86515" rIns="86515" bIns="865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Si utilizza un permutation test per confrontare i conversion rate, evitando ipotesi forti sulla distribuzione dei dati.</a:t>
          </a:r>
          <a:endParaRPr lang="en-US" sz="1900" kern="1200"/>
        </a:p>
      </dsp:txBody>
      <dsp:txXfrm>
        <a:off x="944175" y="3067118"/>
        <a:ext cx="7971224" cy="8174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D1DE-AE89-5440-F372-16629635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A795D-CB83-4F64-83B8-2D799B61E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D5EB1-22C8-0585-D340-B5F4FC749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BD88-5D51-42BB-80A5-DEAB93E26D44}" type="datetimeFigureOut">
              <a:rPr lang="it-IT" smtClean="0"/>
              <a:pPr/>
              <a:t>27/02/2026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CBED8-2E45-5089-3691-BE3131346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4A4B3-DC66-0394-A07F-0915E931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FEF5-2604-4F80-9BE8-273C64AA55B9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131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AE1C9-C383-4289-8C9C-CBBF5D4AA783}" type="datetimeFigureOut">
              <a:rPr lang="it-IT" smtClean="0"/>
              <a:pPr/>
              <a:t>27/02/2026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B508684-6F43-4258-AC4A-3E145F808831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3265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/>
          <p:cNvSpPr txBox="1"/>
          <p:nvPr/>
        </p:nvSpPr>
        <p:spPr>
          <a:xfrm>
            <a:off x="1724025" y="714375"/>
            <a:ext cx="91630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dirty="0"/>
              <a:t>Progetto finale</a:t>
            </a:r>
          </a:p>
          <a:p>
            <a:pPr algn="ctr"/>
            <a:endParaRPr lang="it-IT" sz="4000" dirty="0"/>
          </a:p>
          <a:p>
            <a:pPr algn="ctr"/>
            <a:r>
              <a:rPr lang="en-US" sz="4000" b="1" dirty="0" err="1"/>
              <a:t>Traccia</a:t>
            </a:r>
            <a:r>
              <a:rPr lang="en-US" sz="4000" b="1" dirty="0"/>
              <a:t> 1</a:t>
            </a:r>
          </a:p>
          <a:p>
            <a:pPr algn="ctr"/>
            <a:endParaRPr lang="en-US" sz="4000" b="1" dirty="0"/>
          </a:p>
          <a:p>
            <a:pPr algn="ctr"/>
            <a:r>
              <a:rPr lang="en-US" sz="4000" b="1" dirty="0"/>
              <a:t> E-commerce business  marketing setting</a:t>
            </a:r>
            <a:endParaRPr lang="it-IT" sz="4000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9077326" y="5228272"/>
            <a:ext cx="31146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Autori: </a:t>
            </a:r>
          </a:p>
          <a:p>
            <a:r>
              <a:rPr lang="it-IT" dirty="0"/>
              <a:t>Belingheri Edoardo </a:t>
            </a:r>
          </a:p>
          <a:p>
            <a:r>
              <a:rPr lang="it-IT" dirty="0"/>
              <a:t>Barresi Stella</a:t>
            </a:r>
          </a:p>
          <a:p>
            <a:r>
              <a:rPr lang="it-IT" dirty="0"/>
              <a:t>Barna Giulio</a:t>
            </a:r>
          </a:p>
          <a:p>
            <a:r>
              <a:rPr lang="it-IT" dirty="0" err="1"/>
              <a:t>Ballestrero</a:t>
            </a:r>
            <a:r>
              <a:rPr lang="it-IT" dirty="0"/>
              <a:t> Claudia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6" y="138335"/>
            <a:ext cx="11877674" cy="1280890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/>
              <a:t>Estrazione e Pulizia Dati – Google </a:t>
            </a:r>
            <a:r>
              <a:rPr lang="it-IT" sz="3200" b="1" dirty="0" err="1"/>
              <a:t>BigQuery</a:t>
            </a:r>
            <a:endParaRPr lang="it-IT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8712" y="1800224"/>
            <a:ext cx="5202238" cy="4191001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sz="5600" dirty="0"/>
          </a:p>
          <a:p>
            <a:r>
              <a:rPr sz="5600" dirty="0"/>
              <a:t>1. </a:t>
            </a:r>
            <a:r>
              <a:rPr sz="5600" u="sng" dirty="0"/>
              <a:t>Distribution Centers</a:t>
            </a:r>
            <a:r>
              <a:rPr sz="5600" dirty="0"/>
              <a:t>:</a:t>
            </a:r>
          </a:p>
          <a:p>
            <a:pPr>
              <a:buNone/>
            </a:pPr>
            <a:r>
              <a:rPr sz="5600" dirty="0"/>
              <a:t>• ID, </a:t>
            </a:r>
            <a:r>
              <a:rPr sz="5600" dirty="0" err="1"/>
              <a:t>nome</a:t>
            </a:r>
            <a:r>
              <a:rPr lang="it-IT" sz="5600" dirty="0"/>
              <a:t>, latitudine , longitudine</a:t>
            </a:r>
            <a:endParaRPr sz="5600" dirty="0"/>
          </a:p>
          <a:p>
            <a:pPr>
              <a:buNone/>
            </a:pPr>
            <a:r>
              <a:rPr sz="5600" dirty="0"/>
              <a:t>• </a:t>
            </a:r>
            <a:r>
              <a:rPr sz="5600" dirty="0" err="1"/>
              <a:t>Collegamento</a:t>
            </a:r>
            <a:r>
              <a:rPr sz="5600" dirty="0"/>
              <a:t> </a:t>
            </a:r>
            <a:r>
              <a:rPr sz="5600" dirty="0" err="1"/>
              <a:t>logistica</a:t>
            </a:r>
            <a:r>
              <a:rPr sz="5600" dirty="0"/>
              <a:t> – </a:t>
            </a:r>
            <a:r>
              <a:rPr sz="5600" dirty="0" err="1"/>
              <a:t>inventario</a:t>
            </a:r>
            <a:r>
              <a:rPr sz="5600" dirty="0"/>
              <a:t> – </a:t>
            </a:r>
            <a:r>
              <a:rPr sz="5600" dirty="0" err="1"/>
              <a:t>ordini</a:t>
            </a:r>
            <a:endParaRPr sz="5600" dirty="0"/>
          </a:p>
          <a:p>
            <a:endParaRPr sz="5600" dirty="0"/>
          </a:p>
          <a:p>
            <a:r>
              <a:rPr sz="5600" dirty="0"/>
              <a:t>2. </a:t>
            </a:r>
            <a:r>
              <a:rPr sz="5600" u="sng" dirty="0"/>
              <a:t>Events</a:t>
            </a:r>
            <a:r>
              <a:rPr sz="5600" dirty="0"/>
              <a:t> :</a:t>
            </a:r>
          </a:p>
          <a:p>
            <a:pPr>
              <a:buNone/>
            </a:pPr>
            <a:r>
              <a:rPr sz="5600" dirty="0"/>
              <a:t>• </a:t>
            </a:r>
            <a:r>
              <a:rPr sz="5600" dirty="0" err="1"/>
              <a:t>Mantenuto</a:t>
            </a:r>
            <a:r>
              <a:rPr sz="5600" dirty="0"/>
              <a:t> solo </a:t>
            </a:r>
            <a:r>
              <a:rPr sz="5600" dirty="0" err="1"/>
              <a:t>l’ultimo</a:t>
            </a:r>
            <a:r>
              <a:rPr sz="5600" dirty="0"/>
              <a:t> </a:t>
            </a:r>
            <a:r>
              <a:rPr sz="5600" dirty="0" err="1"/>
              <a:t>evento</a:t>
            </a:r>
            <a:r>
              <a:rPr sz="5600" dirty="0"/>
              <a:t> per </a:t>
            </a:r>
            <a:r>
              <a:rPr sz="5600" dirty="0" err="1"/>
              <a:t>sessione</a:t>
            </a:r>
            <a:endParaRPr sz="5600" dirty="0"/>
          </a:p>
          <a:p>
            <a:pPr>
              <a:buNone/>
            </a:pPr>
            <a:r>
              <a:rPr sz="5600" dirty="0"/>
              <a:t>• </a:t>
            </a:r>
            <a:r>
              <a:rPr sz="5600" dirty="0" err="1"/>
              <a:t>Informazioni</a:t>
            </a:r>
            <a:r>
              <a:rPr sz="5600" dirty="0"/>
              <a:t> </a:t>
            </a:r>
            <a:r>
              <a:rPr sz="5600" dirty="0" err="1"/>
              <a:t>chiave</a:t>
            </a:r>
            <a:r>
              <a:rPr sz="5600" dirty="0"/>
              <a:t>: </a:t>
            </a:r>
            <a:r>
              <a:rPr sz="5600" dirty="0" err="1"/>
              <a:t>tipo</a:t>
            </a:r>
            <a:r>
              <a:rPr sz="5600" dirty="0"/>
              <a:t> </a:t>
            </a:r>
            <a:r>
              <a:rPr sz="5600" dirty="0" err="1"/>
              <a:t>evento</a:t>
            </a:r>
            <a:r>
              <a:rPr sz="5600" dirty="0"/>
              <a:t>, </a:t>
            </a:r>
            <a:r>
              <a:rPr sz="5600" dirty="0" err="1"/>
              <a:t>traffico</a:t>
            </a:r>
            <a:r>
              <a:rPr sz="5600" dirty="0"/>
              <a:t>, </a:t>
            </a:r>
            <a:r>
              <a:rPr sz="5600" dirty="0" err="1"/>
              <a:t>stato</a:t>
            </a:r>
            <a:r>
              <a:rPr sz="5600" dirty="0"/>
              <a:t>, data</a:t>
            </a:r>
          </a:p>
          <a:p>
            <a:pPr>
              <a:buNone/>
            </a:pPr>
            <a:r>
              <a:rPr sz="5600" dirty="0"/>
              <a:t>• </a:t>
            </a:r>
            <a:r>
              <a:rPr sz="5600" dirty="0" err="1"/>
              <a:t>Riduzione</a:t>
            </a:r>
            <a:r>
              <a:rPr sz="5600" dirty="0"/>
              <a:t> </a:t>
            </a:r>
            <a:r>
              <a:rPr sz="5600" dirty="0" err="1"/>
              <a:t>drastica</a:t>
            </a:r>
            <a:r>
              <a:rPr sz="5600" dirty="0"/>
              <a:t> della </a:t>
            </a:r>
            <a:r>
              <a:rPr sz="5600" dirty="0" err="1"/>
              <a:t>dimensione</a:t>
            </a:r>
            <a:r>
              <a:rPr sz="5600" dirty="0"/>
              <a:t> del dataset</a:t>
            </a:r>
          </a:p>
          <a:p>
            <a:endParaRPr sz="5600" dirty="0"/>
          </a:p>
          <a:p>
            <a:r>
              <a:rPr sz="5600" dirty="0"/>
              <a:t>3. </a:t>
            </a:r>
            <a:r>
              <a:rPr sz="5600" u="sng" dirty="0"/>
              <a:t>Inventory Items</a:t>
            </a:r>
            <a:r>
              <a:rPr sz="5600" dirty="0"/>
              <a:t>:</a:t>
            </a:r>
          </a:p>
          <a:p>
            <a:pPr>
              <a:buNone/>
            </a:pPr>
            <a:r>
              <a:rPr sz="5600" dirty="0"/>
              <a:t>• ID </a:t>
            </a:r>
            <a:r>
              <a:rPr sz="5600" dirty="0" err="1"/>
              <a:t>articolo</a:t>
            </a:r>
            <a:r>
              <a:rPr sz="5600" dirty="0"/>
              <a:t>, </a:t>
            </a:r>
            <a:r>
              <a:rPr sz="5600" dirty="0" err="1"/>
              <a:t>prodotto</a:t>
            </a:r>
            <a:r>
              <a:rPr sz="5600" dirty="0"/>
              <a:t>, date </a:t>
            </a:r>
            <a:r>
              <a:rPr sz="5600" dirty="0" err="1"/>
              <a:t>magazzino</a:t>
            </a:r>
            <a:r>
              <a:rPr sz="5600" dirty="0"/>
              <a:t>/</a:t>
            </a:r>
            <a:r>
              <a:rPr sz="5600" dirty="0" err="1"/>
              <a:t>vendita</a:t>
            </a:r>
            <a:r>
              <a:rPr sz="5600" dirty="0"/>
              <a:t>, </a:t>
            </a:r>
            <a:r>
              <a:rPr sz="5600" dirty="0" err="1"/>
              <a:t>centro</a:t>
            </a:r>
            <a:endParaRPr sz="5600" dirty="0"/>
          </a:p>
          <a:p>
            <a:pPr>
              <a:buNone/>
            </a:pPr>
            <a:r>
              <a:rPr sz="5600" dirty="0"/>
              <a:t>• </a:t>
            </a:r>
            <a:r>
              <a:rPr lang="it-IT" sz="5600" dirty="0"/>
              <a:t>Informazioni su </a:t>
            </a:r>
            <a:r>
              <a:rPr sz="5600" dirty="0" err="1"/>
              <a:t>permanenza</a:t>
            </a:r>
            <a:r>
              <a:rPr sz="5600" dirty="0"/>
              <a:t> media, </a:t>
            </a:r>
            <a:r>
              <a:rPr sz="5600" dirty="0" err="1"/>
              <a:t>rotazione</a:t>
            </a:r>
            <a:r>
              <a:rPr sz="5600" dirty="0"/>
              <a:t> stock, performance </a:t>
            </a:r>
            <a:r>
              <a:rPr sz="5600" dirty="0" err="1"/>
              <a:t>centri</a:t>
            </a:r>
            <a:endParaRPr lang="it-IT" sz="5600" dirty="0"/>
          </a:p>
          <a:p>
            <a:pPr>
              <a:buNone/>
            </a:pPr>
            <a:endParaRPr lang="it-IT" sz="56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7918AE6-F64D-EBC5-FE41-E54F435B56C6}"/>
              </a:ext>
            </a:extLst>
          </p:cNvPr>
          <p:cNvSpPr txBox="1"/>
          <p:nvPr/>
        </p:nvSpPr>
        <p:spPr>
          <a:xfrm>
            <a:off x="1241887" y="1156633"/>
            <a:ext cx="998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/>
              <a:t>OBIETTIVO         </a:t>
            </a:r>
            <a:r>
              <a:rPr lang="it-IT" sz="1600" dirty="0"/>
              <a:t>   </a:t>
            </a:r>
          </a:p>
          <a:p>
            <a:pPr algn="ctr"/>
            <a:r>
              <a:rPr lang="it-IT" sz="1600" dirty="0"/>
              <a:t>Creare una base dati più snella e pronta per l’analisi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7581900" y="2085975"/>
            <a:ext cx="4133850" cy="376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 </a:t>
            </a:r>
            <a:r>
              <a:rPr lang="it-IT" sz="140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Orders</a:t>
            </a:r>
            <a:r>
              <a:rPr lang="it-IT" sz="14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&amp; </a:t>
            </a:r>
            <a:r>
              <a:rPr lang="it-IT" sz="140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Order</a:t>
            </a:r>
            <a:r>
              <a:rPr lang="it-IT" sz="14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sz="140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Items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342900" indent="-342900" defTabSz="457200"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Ciclo di vita ordine (creazione, spedizione, consegna, reso, numero articoli acquistati)</a:t>
            </a:r>
          </a:p>
          <a:p>
            <a:pPr marL="342900" indent="-342900" defTabSz="457200"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Informazioni su tempi spedizione/consegna, tasso reso, efficienza</a:t>
            </a:r>
          </a:p>
          <a:p>
            <a:pPr marL="342900" indent="-342900" defTabSz="457200"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it-IT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defTabSz="457200"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it-IT" sz="14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it-IT" sz="140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Products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342900" indent="-342900" defTabSz="457200"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Categoria, </a:t>
            </a:r>
            <a:r>
              <a:rPr lang="it-I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brand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prezzo, costo</a:t>
            </a:r>
          </a:p>
          <a:p>
            <a:pPr marL="342900" indent="-342900" defTabSz="457200"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</a:pPr>
            <a:endParaRPr lang="it-IT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defTabSz="457200"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6.</a:t>
            </a:r>
            <a:r>
              <a:rPr lang="it-IT" sz="14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Users</a:t>
            </a: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342900" indent="-342900" defTabSz="457200"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it-I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Età, genere, localizzazione, traffico</a:t>
            </a:r>
          </a:p>
          <a:p>
            <a:pPr marL="342900" indent="-342900" defTabSz="457200"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it-IT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it-IT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2286000" y="6162675"/>
            <a:ext cx="9134475" cy="84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lnSpc>
                <a:spcPct val="8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Risultato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it-IT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dataset</a:t>
            </a:r>
            <a:r>
              <a:rPr lang="it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ottimizzati, complessità ridotta, base pronta per KPI e </a:t>
            </a:r>
            <a:r>
              <a:rPr lang="it-IT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dashboard</a:t>
            </a:r>
            <a:endParaRPr lang="it-IT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it-IT" dirty="0"/>
          </a:p>
          <a:p>
            <a:endParaRPr lang="it-IT" dirty="0"/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EF240738-524D-2BAF-5472-BBB3B2A63B2A}"/>
              </a:ext>
            </a:extLst>
          </p:cNvPr>
          <p:cNvSpPr txBox="1">
            <a:spLocks/>
          </p:cNvSpPr>
          <p:nvPr/>
        </p:nvSpPr>
        <p:spPr>
          <a:xfrm>
            <a:off x="5570847" y="796738"/>
            <a:ext cx="2081108" cy="3244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SQL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Analysis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097A1-2615-5737-6E53-2ACF641A8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1C71C-679C-AA59-421F-21D1EA38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068"/>
            <a:ext cx="11877674" cy="1280890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/>
              <a:t>Data </a:t>
            </a:r>
            <a:r>
              <a:rPr lang="it-IT" sz="3200" b="1" dirty="0" err="1"/>
              <a:t>Cleaning</a:t>
            </a:r>
            <a:r>
              <a:rPr lang="it-IT" sz="3200" b="1" dirty="0"/>
              <a:t>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B0FF10-AFD3-6AB0-812E-E86A0A9A3230}"/>
              </a:ext>
            </a:extLst>
          </p:cNvPr>
          <p:cNvSpPr txBox="1"/>
          <p:nvPr/>
        </p:nvSpPr>
        <p:spPr>
          <a:xfrm>
            <a:off x="739142" y="989517"/>
            <a:ext cx="998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/>
              <a:t>OBIETTIVO         </a:t>
            </a:r>
            <a:r>
              <a:rPr lang="it-IT" sz="1600" dirty="0"/>
              <a:t>   </a:t>
            </a:r>
          </a:p>
          <a:p>
            <a:pPr algn="ctr"/>
            <a:r>
              <a:rPr lang="it-IT" sz="1600" dirty="0"/>
              <a:t>ottimizzazione e trasformazione con Python &amp; </a:t>
            </a:r>
            <a:r>
              <a:rPr lang="it-IT" sz="1600" dirty="0" err="1"/>
              <a:t>Pandas</a:t>
            </a:r>
            <a:endParaRPr lang="it-IT" sz="1600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8C451EE1-9E4F-F559-F62B-FDEA1C613B4E}"/>
              </a:ext>
            </a:extLst>
          </p:cNvPr>
          <p:cNvSpPr txBox="1">
            <a:spLocks/>
          </p:cNvSpPr>
          <p:nvPr/>
        </p:nvSpPr>
        <p:spPr>
          <a:xfrm>
            <a:off x="2658061" y="2098024"/>
            <a:ext cx="656155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Fase 0 </a:t>
            </a:r>
            <a:r>
              <a:rPr lang="it-IT" sz="2800" dirty="0">
                <a:sym typeface="Wingdings" panose="05000000000000000000" pitchFamily="2" charset="2"/>
              </a:rPr>
              <a:t></a:t>
            </a:r>
            <a:r>
              <a:rPr lang="it-IT" sz="2800" dirty="0"/>
              <a:t> </a:t>
            </a:r>
            <a:r>
              <a:rPr lang="it-IT" dirty="0"/>
              <a:t>Importazione librerie e caricamento dati</a:t>
            </a:r>
          </a:p>
          <a:p>
            <a:endParaRPr lang="it-IT" dirty="0"/>
          </a:p>
          <a:p>
            <a:r>
              <a:rPr lang="it-IT" sz="2800" dirty="0"/>
              <a:t>Fase 1 </a:t>
            </a:r>
            <a:r>
              <a:rPr lang="it-IT" sz="2800" dirty="0">
                <a:sym typeface="Wingdings" panose="05000000000000000000" pitchFamily="2" charset="2"/>
              </a:rPr>
              <a:t> </a:t>
            </a:r>
            <a:r>
              <a:rPr lang="it-IT" dirty="0"/>
              <a:t>Verifica dei valori e pulizia  </a:t>
            </a:r>
          </a:p>
          <a:p>
            <a:endParaRPr lang="it-IT" sz="2800" dirty="0"/>
          </a:p>
        </p:txBody>
      </p:sp>
      <p:sp>
        <p:nvSpPr>
          <p:cNvPr id="17" name="Sottotitolo 2">
            <a:extLst>
              <a:ext uri="{FF2B5EF4-FFF2-40B4-BE49-F238E27FC236}">
                <a16:creationId xmlns:a16="http://schemas.microsoft.com/office/drawing/2014/main" id="{BAC8D484-9334-13F1-F6FD-1CE4770F4854}"/>
              </a:ext>
            </a:extLst>
          </p:cNvPr>
          <p:cNvSpPr txBox="1">
            <a:spLocks/>
          </p:cNvSpPr>
          <p:nvPr/>
        </p:nvSpPr>
        <p:spPr>
          <a:xfrm>
            <a:off x="5267607" y="665053"/>
            <a:ext cx="1105761" cy="324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endParaRPr kumimoji="0" lang="it-IT" sz="17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903D1FC-7F06-FBA2-8975-62A2D504AEC7}"/>
              </a:ext>
            </a:extLst>
          </p:cNvPr>
          <p:cNvSpPr txBox="1">
            <a:spLocks/>
          </p:cNvSpPr>
          <p:nvPr/>
        </p:nvSpPr>
        <p:spPr>
          <a:xfrm>
            <a:off x="2658061" y="3537550"/>
            <a:ext cx="65615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Fase 2 </a:t>
            </a:r>
            <a:r>
              <a:rPr lang="it-IT" sz="2800" dirty="0">
                <a:sym typeface="Wingdings" panose="05000000000000000000" pitchFamily="2" charset="2"/>
              </a:rPr>
              <a:t></a:t>
            </a:r>
            <a:r>
              <a:rPr lang="it-IT" sz="2800" dirty="0"/>
              <a:t> </a:t>
            </a:r>
            <a:r>
              <a:rPr lang="it-IT" dirty="0"/>
              <a:t>Trasformazione dati:</a:t>
            </a:r>
          </a:p>
          <a:p>
            <a:endParaRPr lang="it-IT" sz="2800" dirty="0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249CB16-E847-EFF7-CD26-114808346BB3}"/>
              </a:ext>
            </a:extLst>
          </p:cNvPr>
          <p:cNvSpPr txBox="1"/>
          <p:nvPr/>
        </p:nvSpPr>
        <p:spPr>
          <a:xfrm>
            <a:off x="4483187" y="4090532"/>
            <a:ext cx="2298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/>
              <a:t>A) </a:t>
            </a:r>
            <a:r>
              <a:rPr lang="it-IT" sz="1600" b="1" dirty="0" err="1"/>
              <a:t>Inventory_items</a:t>
            </a:r>
            <a:endParaRPr lang="it-IT" sz="1600" b="1" dirty="0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2E74F80D-64A6-1E2C-401C-40E6A1775088}"/>
              </a:ext>
            </a:extLst>
          </p:cNvPr>
          <p:cNvSpPr txBox="1"/>
          <p:nvPr/>
        </p:nvSpPr>
        <p:spPr>
          <a:xfrm>
            <a:off x="4590860" y="4483618"/>
            <a:ext cx="4202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/>
              <a:t>B) Ottenere il profitto dei singoli prodotti</a:t>
            </a:r>
            <a:endParaRPr lang="it-IT" sz="2500" b="1" dirty="0"/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47ECCE89-0E69-84D1-1CA1-F41AF2E44176}"/>
              </a:ext>
            </a:extLst>
          </p:cNvPr>
          <p:cNvSpPr txBox="1"/>
          <p:nvPr/>
        </p:nvSpPr>
        <p:spPr>
          <a:xfrm>
            <a:off x="4483187" y="4876704"/>
            <a:ext cx="37611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/>
              <a:t>C) Calcolo del profitto per ordine</a:t>
            </a:r>
          </a:p>
        </p:txBody>
      </p:sp>
      <p:sp>
        <p:nvSpPr>
          <p:cNvPr id="8" name="TextBox 25">
            <a:extLst>
              <a:ext uri="{FF2B5EF4-FFF2-40B4-BE49-F238E27FC236}">
                <a16:creationId xmlns:a16="http://schemas.microsoft.com/office/drawing/2014/main" id="{938A8AAF-81DE-A2FB-C17D-242E60841121}"/>
              </a:ext>
            </a:extLst>
          </p:cNvPr>
          <p:cNvSpPr txBox="1"/>
          <p:nvPr/>
        </p:nvSpPr>
        <p:spPr>
          <a:xfrm>
            <a:off x="4692648" y="5269790"/>
            <a:ext cx="1039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D) User</a:t>
            </a:r>
            <a:endParaRPr lang="it-IT" sz="2500" dirty="0"/>
          </a:p>
        </p:txBody>
      </p:sp>
    </p:spTree>
    <p:extLst>
      <p:ext uri="{BB962C8B-B14F-4D97-AF65-F5344CB8AC3E}">
        <p14:creationId xmlns:p14="http://schemas.microsoft.com/office/powerpoint/2010/main" val="3233447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6D3FF-43D9-7878-88E5-EEA17502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b="1" dirty="0"/>
              <a:t>Analisi iniziali in Python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05131C5-D022-979E-7B52-2A0E7501AB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3862022"/>
              </p:ext>
            </p:extLst>
          </p:nvPr>
        </p:nvGraphicFramePr>
        <p:xfrm>
          <a:off x="2589211" y="1828800"/>
          <a:ext cx="89154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8093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E154A-C5C5-BC3F-99BC-515C7C44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b="1" dirty="0"/>
              <a:t>Test d’ipotesi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113F7C-DA9A-A05C-FA43-B787710EE5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205453"/>
              </p:ext>
            </p:extLst>
          </p:nvPr>
        </p:nvGraphicFramePr>
        <p:xfrm>
          <a:off x="2589213" y="2133600"/>
          <a:ext cx="89154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2814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348B18E8-F28A-81E5-67FD-EC82DE35E044}"/>
              </a:ext>
            </a:extLst>
          </p:cNvPr>
          <p:cNvSpPr txBox="1">
            <a:spLocks/>
          </p:cNvSpPr>
          <p:nvPr/>
        </p:nvSpPr>
        <p:spPr>
          <a:xfrm>
            <a:off x="1111046" y="145674"/>
            <a:ext cx="10323871" cy="5276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Modello di Business Intelligence e Risultati Analitici</a:t>
            </a:r>
            <a:endParaRPr kumimoji="0" lang="it-IT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EF240738-524D-2BAF-5472-BBB3B2A63B2A}"/>
              </a:ext>
            </a:extLst>
          </p:cNvPr>
          <p:cNvSpPr txBox="1">
            <a:spLocks/>
          </p:cNvSpPr>
          <p:nvPr/>
        </p:nvSpPr>
        <p:spPr>
          <a:xfrm>
            <a:off x="5342247" y="682438"/>
            <a:ext cx="2081108" cy="3244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Power BI Analysis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7918AE6-F64D-EBC5-FE41-E54F435B56C6}"/>
              </a:ext>
            </a:extLst>
          </p:cNvPr>
          <p:cNvSpPr txBox="1"/>
          <p:nvPr/>
        </p:nvSpPr>
        <p:spPr>
          <a:xfrm>
            <a:off x="1537162" y="1147108"/>
            <a:ext cx="99862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/>
              <a:t>OBIETTIVO         </a:t>
            </a:r>
            <a:r>
              <a:rPr lang="it-IT" sz="1600" dirty="0"/>
              <a:t>   </a:t>
            </a:r>
          </a:p>
          <a:p>
            <a:r>
              <a:rPr lang="it-IT" sz="1600" dirty="0"/>
              <a:t>Analizzare  le performance di vendita di un e-commerce attraverso la creazione di un dashboard interattivo in Power BI, con focus su revenue, profitto, prodotti e comportamento clienti.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44A4A09-B502-ED01-05CE-B1E841AE7257}"/>
              </a:ext>
            </a:extLst>
          </p:cNvPr>
          <p:cNvSpPr txBox="1"/>
          <p:nvPr/>
        </p:nvSpPr>
        <p:spPr>
          <a:xfrm>
            <a:off x="2205755" y="2545432"/>
            <a:ext cx="39950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Modellazione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dirty="0"/>
              <a:t>Architettura dimensionale a stella estesa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dirty="0" err="1"/>
              <a:t>Fact</a:t>
            </a:r>
            <a:r>
              <a:rPr lang="it-IT" dirty="0"/>
              <a:t> a diversa granularità (Ordini, Prodotti, Eventi, Stock)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dirty="0"/>
              <a:t>Relazioni </a:t>
            </a:r>
            <a:r>
              <a:rPr lang="it-IT" i="1" dirty="0"/>
              <a:t>1: a direzione singola</a:t>
            </a:r>
            <a:r>
              <a:rPr lang="it-IT" dirty="0"/>
              <a:t>*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dirty="0"/>
              <a:t>Misure DAX coerenti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dirty="0"/>
              <a:t>Selezione dinamica e Drill-</a:t>
            </a:r>
            <a:r>
              <a:rPr lang="it-IT" dirty="0" err="1"/>
              <a:t>through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813D1FE-479C-2621-F0DE-DE2F0528D701}"/>
              </a:ext>
            </a:extLst>
          </p:cNvPr>
          <p:cNvSpPr txBox="1"/>
          <p:nvPr/>
        </p:nvSpPr>
        <p:spPr>
          <a:xfrm>
            <a:off x="7791092" y="2515881"/>
            <a:ext cx="322498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b="1" dirty="0"/>
              <a:t>Evidenze</a:t>
            </a:r>
            <a:r>
              <a:rPr lang="it-IT" dirty="0"/>
              <a:t> </a:t>
            </a:r>
            <a:r>
              <a:rPr lang="it-IT" b="1" dirty="0"/>
              <a:t>Chiave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dirty="0"/>
              <a:t>Crescita del profitto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dirty="0"/>
              <a:t>Conversion Rate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dirty="0"/>
              <a:t>Distribuzione gender bilanciata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dirty="0"/>
              <a:t>Analisi dello Stock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it-IT" dirty="0"/>
              <a:t>Utilizzo dei canali di traffico</a:t>
            </a:r>
          </a:p>
          <a:p>
            <a:pPr marL="342900" indent="-342900">
              <a:buAutoNum type="arabicPeriod"/>
            </a:pPr>
            <a:endParaRPr lang="it-I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ilo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l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</TotalTime>
  <Words>464</Words>
  <Application>Microsoft Office PowerPoint</Application>
  <PresentationFormat>Widescreen</PresentationFormat>
  <Paragraphs>81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Century Gothic</vt:lpstr>
      <vt:lpstr>Wingdings</vt:lpstr>
      <vt:lpstr>Wingdings 3</vt:lpstr>
      <vt:lpstr>Filo</vt:lpstr>
      <vt:lpstr>PowerPoint Presentation</vt:lpstr>
      <vt:lpstr>Estrazione e Pulizia Dati – Google BigQuery</vt:lpstr>
      <vt:lpstr>Data Cleaning </vt:lpstr>
      <vt:lpstr>Analisi iniziali in Python</vt:lpstr>
      <vt:lpstr>Test d’ipotesi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iniziali in Python</dc:title>
  <dc:creator>eddy belingheri</dc:creator>
  <cp:lastModifiedBy>eddy belingheri</cp:lastModifiedBy>
  <cp:revision>28</cp:revision>
  <dcterms:created xsi:type="dcterms:W3CDTF">2026-02-23T12:27:26Z</dcterms:created>
  <dcterms:modified xsi:type="dcterms:W3CDTF">2026-02-27T13:25:02Z</dcterms:modified>
</cp:coreProperties>
</file>